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4a2eb626de4e44" /><Relationship Type="http://schemas.openxmlformats.org/officeDocument/2006/relationships/extended-properties" Target="/docProps/app.xml" Id="R2007a60f198740d2" /><Relationship Type="http://schemas.openxmlformats.org/officeDocument/2006/relationships/officeDocument" Target="/ppt/presentation.xml" Id="R8c917181966747b3" /></Relationships>
</file>

<file path=ppt/presentation.xml><?xml version="1.0" encoding="utf-8"?>
<p:presentation xmlns:p="http://schemas.openxmlformats.org/presentationml/2006/main">
  <p:sldMasterIdLst>
    <p:sldMasterId xmlns:r="http://schemas.openxmlformats.org/officeDocument/2006/relationships" id="2147483648" r:id="R0f0e10529e7044d7"/>
  </p:sldMasterIdLst>
  <p:notesMasterIdLst>
    <p:notesMasterId xmlns:r="http://schemas.openxmlformats.org/officeDocument/2006/relationships" r:id="Rab4249253141447f"/>
  </p:notesMasterIdLst>
  <p:sldIdLst>
    <p:sldId xmlns:r="http://schemas.openxmlformats.org/officeDocument/2006/relationships" id="256" r:id="R52a373ea0b804cdd"/>
  </p:sldIdLst>
  <p:sldSz cx="30270450" cy="427958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b80e14c2394509" /><Relationship Type="http://schemas.openxmlformats.org/officeDocument/2006/relationships/slideMaster" Target="/ppt/slideMasters/slideMaster1.xml" Id="R0f0e10529e7044d7" /><Relationship Type="http://schemas.openxmlformats.org/officeDocument/2006/relationships/notesMaster" Target="/ppt/notesMasters/notesMaster1.xml" Id="Rab4249253141447f" /><Relationship Type="http://schemas.openxmlformats.org/officeDocument/2006/relationships/presProps" Target="/ppt/presProps.xml" Id="R0e2daffc080e4253" /><Relationship Type="http://schemas.openxmlformats.org/officeDocument/2006/relationships/tableStyles" Target="/ppt/tableStyles.xml" Id="Ra198fe4430154e07" /><Relationship Type="http://schemas.openxmlformats.org/officeDocument/2006/relationships/slide" Target="/ppt/slides/slide1.xml" Id="R52a373ea0b804c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e99a846ffa4c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asino Burgundy and Gold">
      <a:dk1>
        <a:srgbClr val="000000"/>
      </a:dk1>
      <a:lt1>
        <a:srgbClr val="FFFFFF"/>
      </a:lt1>
      <a:dk2>
        <a:srgbClr val="6A1F2C"/>
      </a:dk2>
      <a:lt2>
        <a:srgbClr val="F5E7CE"/>
      </a:lt2>
      <a:accent1>
        <a:srgbClr val="7A2130"/>
      </a:accent1>
      <a:accent2>
        <a:srgbClr val="6A1F2C"/>
      </a:accent2>
      <a:accent3>
        <a:srgbClr val="C5933D"/>
      </a:accent3>
      <a:accent4>
        <a:srgbClr val="A5413E"/>
      </a:accent4>
      <a:accent5>
        <a:srgbClr val="496B61"/>
      </a:accent5>
      <a:accent6>
        <a:srgbClr val="24513C"/>
      </a:accent6>
      <a:hlink>
        <a:srgbClr val="496B61"/>
      </a:hlink>
      <a:folHlink>
        <a:srgbClr val="6B4A8C"/>
      </a:folHlink>
    </a:clrScheme>
    <a:fontScheme name="Office">
      <a:majorFont>
        <a:latin typeface="Calibri Light"/>
        <a:ea typeface="Calibri Light"/>
        <a:cs typeface="Calibri Light"/>
      </a:majorFont>
      <a:minorFont>
        <a:latin typeface="Calibri"/>
        <a:ea typeface="Calibri"/>
        <a:cs typeface="Calibri"/>
      </a:minorFont>
    </a:fontScheme>
    <a:fmtScheme name="Casino Burgundy and Gol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1275ac7ade4f21" /><Relationship Type="http://schemas.openxmlformats.org/officeDocument/2006/relationships/notesMaster" Target="/ppt/notesMasters/notesMaster1.xml" Id="R81b54de2fa4d4d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Strategy results, validation values, convergence values and test count supplied by the user in this conversation (16 August 2026).</a:t>
            </a:r>
          </a:p>
          <a:p xmlns:a="http://schemas.openxmlformats.org/drawingml/2006/main">
            <a:r>
              <a:t>- Reference layout and UCD crest: user-provided Poster.pdf from Simulate-multi-deck-Blackjack-main.zip.</a:t>
            </a:r>
          </a:p>
          <a:p xmlns:a="http://schemas.openxmlformats.org/drawingml/2006/main">
            <a:r>
              <a:t>- Equations (1)-(8), payoff definition and single-deck baseline rules: user-uploaded blackjack_literature_review_25203038 (1).pdf, Sections 3-5.</a:t>
            </a:r>
          </a:p>
          <a:p xmlns:a="http://schemas.openxmlformats.org/drawingml/2006/main">
            <a:r>
              <a:t>- Figures 1 and 2 are regenerated from the user's strategy_comparison.csv and convergence.csv values shown in this conversation.</a:t>
            </a:r>
          </a:p>
          <a:p xmlns:a="http://schemas.openxmlformats.org/drawingml/2006/main">
            <a:r>
              <a:t>- Baldwin, R. R., Cantey, W. E., Maisel, H., &amp; McDermott, J. P. (1956). The Optimum Strategy in Blackjack. JASA, 51(275), 429-439.</a:t>
            </a:r>
          </a:p>
          <a:p xmlns:a="http://schemas.openxmlformats.org/drawingml/2006/main">
            <a:r>
              <a:t>- Griffin, P. A. (1979). The Theory of Blackjack. Huntington Press.</a:t>
            </a:r>
          </a:p>
          <a:p xmlns:a="http://schemas.openxmlformats.org/drawingml/2006/main">
            <a:r>
              <a:t>- Solowiej, J. (2004). Finding Blackjack's optimal strategy in real-time and player's expected win. arXiv:math/0412311.</a:t>
            </a:r>
          </a:p>
          <a:p xmlns:a="http://schemas.openxmlformats.org/drawingml/2006/main">
            <a:r>
              <a:t>- Sutton, R. S., &amp; Barto, A. G. (2018). Reinforcement Learning: An Introduction (2nd ed.). MIT Press.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c0a63200a442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3499ec81634ccb" /><Relationship Type="http://schemas.openxmlformats.org/officeDocument/2006/relationships/slideLayout" Target="/ppt/slideLayouts/slideLayout1.xml" Id="R30fd6089354040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fd6089354040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asino Burgundy and Gold">
      <a:dk1>
        <a:srgbClr val="000000"/>
      </a:dk1>
      <a:lt1>
        <a:srgbClr val="FFFFFF"/>
      </a:lt1>
      <a:dk2>
        <a:srgbClr val="6A1F2C"/>
      </a:dk2>
      <a:lt2>
        <a:srgbClr val="F5E7CE"/>
      </a:lt2>
      <a:accent1>
        <a:srgbClr val="7A2130"/>
      </a:accent1>
      <a:accent2>
        <a:srgbClr val="6A1F2C"/>
      </a:accent2>
      <a:accent3>
        <a:srgbClr val="C5933D"/>
      </a:accent3>
      <a:accent4>
        <a:srgbClr val="A5413E"/>
      </a:accent4>
      <a:accent5>
        <a:srgbClr val="496B61"/>
      </a:accent5>
      <a:accent6>
        <a:srgbClr val="24513C"/>
      </a:accent6>
      <a:hlink>
        <a:srgbClr val="496B61"/>
      </a:hlink>
      <a:folHlink>
        <a:srgbClr val="6B4A8C"/>
      </a:folHlink>
    </a:clrScheme>
    <a:fontScheme name="Office">
      <a:majorFont>
        <a:latin typeface="Calibri Light"/>
        <a:ea typeface="Calibri Light"/>
        <a:cs typeface="Calibri Light"/>
      </a:majorFont>
      <a:minorFont>
        <a:latin typeface="Calibri"/>
        <a:ea typeface="Calibri"/>
        <a:cs typeface="Calibri"/>
      </a:minorFont>
    </a:fontScheme>
    <a:fmtScheme name="Casino Burgundy and Gol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4cb4dc3e2446f2" /><Relationship Type="http://schemas.openxmlformats.org/officeDocument/2006/relationships/image" Target="/ppt/media/image.png" Id="R833be428e71d4c33" /><Relationship Type="http://schemas.openxmlformats.org/officeDocument/2006/relationships/image" Target="/ppt/media/image2.png" Id="Ree847734465d4a33" /><Relationship Type="http://schemas.openxmlformats.org/officeDocument/2006/relationships/image" Target="/ppt/media/image3.png" Id="Raf90ca90dc5b4dea" /><Relationship Type="http://schemas.openxmlformats.org/officeDocument/2006/relationships/image" Target="/ppt/media/image4.png" Id="Rd52fef2277f1427a" /><Relationship Type="http://schemas.openxmlformats.org/officeDocument/2006/relationships/image" Target="/ppt/media/image5.png" Id="R34178136b872441f" /><Relationship Type="http://schemas.openxmlformats.org/officeDocument/2006/relationships/image" Target="/ppt/media/image6.png" Id="R546b9d658dfd4854" /><Relationship Type="http://schemas.openxmlformats.org/officeDocument/2006/relationships/notesSlide" Target="/ppt/notesSlides/notesSlide1.xml" Id="R762516b18e2745c6" /></Relationships>
</file>

<file path=ppt/slides/slide1.xml><?xml version="1.0" encoding="utf-8"?>
<p:sld xmlns:p="http://schemas.openxmlformats.org/presentationml/2006/main">
  <p:cSld>
    <p:bg>
      <p:bgPr>
        <a:solidFill xmlns:a="http://schemas.openxmlformats.org/drawingml/2006/main">
          <a:srgbClr val="F1E6D1"/>
        </a:solidFill>
      </p:bgPr>
    </p:bg>
    <p:spTree>
      <p:nvGrpSpPr>
        <p:cNvPr id="1" name=""/>
        <p:cNvGrpSpPr/>
        <p:nvPr/>
      </p:nvGrpSpPr>
      <p:grpSpPr>
        <a:xfrm xmlns:a="http://schemas.openxmlformats.org/drawingml/2006/main"/>
      </p:grpSpPr>
      <p:sp>
        <p:nvSpPr>
          <p:cNvPr id="95" name="header-band">
            <a:extLst xmlns:a="http://schemas.openxmlformats.org/drawingml/2006/main">
              <a:ext uri="{FF2B5EF4-FFF2-40B4-BE49-F238E27FC236}">
                <a16:creationId xmlns:a16="http://schemas.microsoft.com/office/drawing/2014/main" id="{DC2EF295-782E-4958-952F-1814566B50E2}"/>
              </a:ext>
            </a:extLst>
          </p:cNvPr>
          <p:cNvSpPr>
            <a:spLocks xmlns:a="http://schemas.openxmlformats.org/drawingml/2006/main" noGrp="1"/>
          </p:cNvSpPr>
          <p:nvPr/>
        </p:nvSpPr>
        <p:spPr>
          <a:xfrm xmlns:a="http://schemas.openxmlformats.org/drawingml/2006/main">
            <a:off x="0" y="0"/>
            <a:ext cx="30270450" cy="4095750"/>
          </a:xfrm>
          <a:prstGeom xmlns:a="http://schemas.openxmlformats.org/drawingml/2006/main" prst="rect">
            <a:avLst/>
          </a:prstGeom>
          <a:solidFill xmlns:a="http://schemas.openxmlformats.org/drawingml/2006/main">
            <a:srgbClr val="201B18"/>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F389E6BF-5391-443E-BD59-C47A4A64CE4E}"/>
              </a:ext>
            </a:extLst>
          </p:cNvPr>
          <p:cNvSpPr>
            <a:spLocks xmlns:a="http://schemas.openxmlformats.org/drawingml/2006/main" noGrp="1"/>
          </p:cNvSpPr>
          <p:nvPr/>
        </p:nvSpPr>
        <p:spPr>
          <a:xfrm xmlns:a="http://schemas.openxmlformats.org/drawingml/2006/main">
            <a:off x="0" y="4086225"/>
            <a:ext cx="302704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3" name="hero-gold-frame">
            <a:extLst xmlns:a="http://schemas.openxmlformats.org/drawingml/2006/main">
              <a:ext uri="{FF2B5EF4-FFF2-40B4-BE49-F238E27FC236}">
                <a16:creationId xmlns:a16="http://schemas.microsoft.com/office/drawing/2014/main" id="{F02B087E-9F55-4E6B-9DC8-8A65E1D9C413}"/>
              </a:ext>
            </a:extLst>
          </p:cNvPr>
          <p:cNvSpPr>
            <a:spLocks xmlns:a="http://schemas.openxmlformats.org/drawingml/2006/main" noGrp="1"/>
          </p:cNvSpPr>
          <p:nvPr/>
        </p:nvSpPr>
        <p:spPr>
          <a:xfrm xmlns:a="http://schemas.openxmlformats.org/drawingml/2006/main">
            <a:off x="457200" y="247650"/>
            <a:ext cx="4095750" cy="3600450"/>
          </a:xfrm>
          <a:prstGeom xmlns:a="http://schemas.openxmlformats.org/drawingml/2006/main" prst="roundRect">
            <a:avLst>
              <a:gd name="adj" fmla="val 6349"/>
            </a:avLst>
          </a:prstGeom>
          <a:solidFill xmlns:a="http://schemas.openxmlformats.org/drawingml/2006/main">
            <a:srgbClr val="C5933D"/>
          </a:solidFill>
          <a:ln xmlns:a="http://schemas.openxmlformats.org/drawingml/2006/main" w="9525">
            <a:solidFill>
              <a:srgbClr val="C5933D"/>
            </a:solidFill>
            <a:prstDash val="solid"/>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833be428e71d4c33"/>
          <a:srcRect xmlns:a="http://schemas.openxmlformats.org/drawingml/2006/main" l="0" t="6404" r="0" b="6404"/>
          <a:stretch xmlns:a="http://schemas.openxmlformats.org/drawingml/2006/main">
            <a:fillRect l="0" t="0" r="0" b="0"/>
          </a:stretch>
        </p:blipFill>
        <p:spPr>
          <a:xfrm xmlns:a="http://schemas.openxmlformats.org/drawingml/2006/main">
            <a:off x="571500" y="361950"/>
            <a:ext cx="3867150" cy="3371850"/>
          </a:xfrm>
          <a:prstGeom xmlns:a="http://schemas.openxmlformats.org/drawingml/2006/main" prst="rect">
            <a:avLst/>
          </a:prstGeom>
        </p:spPr>
      </p:pic>
      <p:sp>
        <p:nvSpPr>
          <p:cNvPr id="5" name="poster-title">
            <a:extLst xmlns:a="http://schemas.openxmlformats.org/drawingml/2006/main">
              <a:ext uri="{FF2B5EF4-FFF2-40B4-BE49-F238E27FC236}">
                <a16:creationId xmlns:a16="http://schemas.microsoft.com/office/drawing/2014/main" id="{542704BF-9686-4200-8A1C-A0FEB4F33E12}"/>
              </a:ext>
            </a:extLst>
          </p:cNvPr>
          <p:cNvSpPr>
            <a:spLocks xmlns:a="http://schemas.openxmlformats.org/drawingml/2006/main" noGrp="1"/>
          </p:cNvSpPr>
          <p:nvPr/>
        </p:nvSpPr>
        <p:spPr>
          <a:xfrm xmlns:a="http://schemas.openxmlformats.org/drawingml/2006/main">
            <a:off x="4905375" y="457200"/>
            <a:ext cx="20955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5550" b="1" i="0">
                <a:solidFill>
                  <a:srgbClr val="FFF9EE"/>
                </a:solidFill>
                <a:latin typeface="DejaVu Serif"/>
                <a:ea typeface="DejaVu Serif"/>
                <a:cs typeface="DejaVu Serif"/>
              </a:defRPr>
            </a:pPr>
            <a:r>
              <a:rPr sz="5550" b="1" i="0">
                <a:solidFill>
                  <a:srgbClr val="FFF9EE"/>
                </a:solidFill>
                <a:latin typeface="DejaVu Serif"/>
                <a:ea typeface="DejaVu Serif"/>
                <a:cs typeface="DejaVu Serif"/>
              </a:rPr>
              <a:t>Monte Carlo Simulation of Blackjack</a:t>
            </a:r>
          </a:p>
        </p:txBody>
      </p:sp>
      <p:sp>
        <p:nvSpPr>
          <p:cNvPr id="6" name="poster-subtitle">
            <a:extLst xmlns:a="http://schemas.openxmlformats.org/drawingml/2006/main">
              <a:ext uri="{FF2B5EF4-FFF2-40B4-BE49-F238E27FC236}">
                <a16:creationId xmlns:a16="http://schemas.microsoft.com/office/drawing/2014/main" id="{4E78DE2B-51B0-4CFA-9C28-ED59F428FB82}"/>
              </a:ext>
            </a:extLst>
          </p:cNvPr>
          <p:cNvSpPr>
            <a:spLocks xmlns:a="http://schemas.openxmlformats.org/drawingml/2006/main" noGrp="1"/>
          </p:cNvSpPr>
          <p:nvPr/>
        </p:nvSpPr>
        <p:spPr>
          <a:xfrm xmlns:a="http://schemas.openxmlformats.org/drawingml/2006/main">
            <a:off x="4905375" y="1428750"/>
            <a:ext cx="2095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3075" b="1" i="0">
                <a:solidFill>
                  <a:srgbClr val="C5933D"/>
                </a:solidFill>
                <a:latin typeface="DejaVu Serif"/>
                <a:ea typeface="DejaVu Serif"/>
                <a:cs typeface="DejaVu Serif"/>
              </a:defRPr>
            </a:pPr>
            <a:r>
              <a:rPr sz="3075" b="1" i="0">
                <a:solidFill>
                  <a:srgbClr val="C5933D"/>
                </a:solidFill>
                <a:latin typeface="DejaVu Serif"/>
                <a:ea typeface="DejaVu Serif"/>
                <a:cs typeface="DejaVu Serif"/>
              </a:rPr>
              <a:t>Which way of playing loses the least over many hands?</a:t>
            </a:r>
          </a:p>
        </p:txBody>
      </p:sp>
      <p:sp>
        <p:nvSpPr>
          <p:cNvPr id="7" name="author-line">
            <a:extLst xmlns:a="http://schemas.openxmlformats.org/drawingml/2006/main">
              <a:ext uri="{FF2B5EF4-FFF2-40B4-BE49-F238E27FC236}">
                <a16:creationId xmlns:a16="http://schemas.microsoft.com/office/drawing/2014/main" id="{3B3DFD88-57D0-4FC1-A30C-A49DB170CFEC}"/>
              </a:ext>
            </a:extLst>
          </p:cNvPr>
          <p:cNvSpPr>
            <a:spLocks xmlns:a="http://schemas.openxmlformats.org/drawingml/2006/main" noGrp="1"/>
          </p:cNvSpPr>
          <p:nvPr/>
        </p:nvSpPr>
        <p:spPr>
          <a:xfrm xmlns:a="http://schemas.openxmlformats.org/drawingml/2006/main">
            <a:off x="4905375" y="2324100"/>
            <a:ext cx="2095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2700" b="1" i="0">
                <a:solidFill>
                  <a:srgbClr val="FFFFFF"/>
                </a:solidFill>
                <a:latin typeface="DejaVu Serif"/>
                <a:ea typeface="DejaVu Serif"/>
                <a:cs typeface="DejaVu Serif"/>
              </a:defRPr>
            </a:pPr>
            <a:r>
              <a:rPr sz="2700" b="1" i="0">
                <a:solidFill>
                  <a:srgbClr val="FFFFFF"/>
                </a:solidFill>
                <a:latin typeface="DejaVu Serif"/>
                <a:ea typeface="DejaVu Serif"/>
                <a:cs typeface="DejaVu Serif"/>
              </a:rPr>
              <a:t>Neeraj Srivastava  |  25203038</a:t>
            </a:r>
          </a:p>
        </p:txBody>
      </p:sp>
      <p:sp>
        <p:nvSpPr>
          <p:cNvPr id="8" name="affiliation-line">
            <a:extLst xmlns:a="http://schemas.openxmlformats.org/drawingml/2006/main">
              <a:ext uri="{FF2B5EF4-FFF2-40B4-BE49-F238E27FC236}">
                <a16:creationId xmlns:a16="http://schemas.microsoft.com/office/drawing/2014/main" id="{2B193DFF-7434-4A06-A012-938E4C16D9B4}"/>
              </a:ext>
            </a:extLst>
          </p:cNvPr>
          <p:cNvSpPr>
            <a:spLocks xmlns:a="http://schemas.openxmlformats.org/drawingml/2006/main" noGrp="1"/>
          </p:cNvSpPr>
          <p:nvPr/>
        </p:nvSpPr>
        <p:spPr>
          <a:xfrm xmlns:a="http://schemas.openxmlformats.org/drawingml/2006/main">
            <a:off x="4905375" y="2876550"/>
            <a:ext cx="2095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6000"/>
              </a:lnSpc>
              <a:buNone/>
              <a:defRPr sz="1800" b="0" i="0">
                <a:solidFill>
                  <a:srgbClr val="E4D5BE"/>
                </a:solidFill>
                <a:latin typeface="DejaVu Sans"/>
                <a:ea typeface="DejaVu Sans"/>
                <a:cs typeface="DejaVu Sans"/>
              </a:defRPr>
            </a:pPr>
            <a:r>
              <a:rPr sz="1800" b="0" i="0">
                <a:solidFill>
                  <a:srgbClr val="E4D5BE"/>
                </a:solidFill>
                <a:latin typeface="DejaVu Sans"/>
                <a:ea typeface="DejaVu Sans"/>
                <a:cs typeface="DejaVu Sans"/>
              </a:rPr>
              <a:t>ACM40960 Projects in Mathematics Modelling  |  MSc Data and Computational Science  |  University College Dublin</a:t>
            </a:r>
          </a:p>
          <a:p xmlns:a="http://schemas.openxmlformats.org/drawingml/2006/main">
            <a:pPr algn="ctr">
              <a:lnSpc>
                <a:spcPct val="106000"/>
              </a:lnSpc>
              <a:buNone/>
              <a:defRPr sz="1800" b="0" i="0">
                <a:solidFill>
                  <a:srgbClr val="E4D5BE"/>
                </a:solidFill>
                <a:latin typeface="DejaVu Sans"/>
                <a:ea typeface="DejaVu Sans"/>
                <a:cs typeface="DejaVu Sans"/>
              </a:defRPr>
            </a:pPr>
            <a:r>
              <a:rPr sz="1800" b="0" i="0">
                <a:solidFill>
                  <a:srgbClr val="E4D5BE"/>
                </a:solidFill>
                <a:latin typeface="DejaVu Sans"/>
                <a:ea typeface="DejaVu Sans"/>
                <a:cs typeface="DejaVu Sans"/>
              </a:rPr>
              <a:t>Supervisor: Dr Sarp Akcay  |  August 2026</a:t>
            </a:r>
          </a:p>
        </p:txBody>
      </p:sp>
      <p:sp>
        <p:nvSpPr>
          <p:cNvPr id="9" name="repository-line">
            <a:extLst xmlns:a="http://schemas.openxmlformats.org/drawingml/2006/main">
              <a:ext uri="{FF2B5EF4-FFF2-40B4-BE49-F238E27FC236}">
                <a16:creationId xmlns:a16="http://schemas.microsoft.com/office/drawing/2014/main" id="{123D11DC-9C1A-410C-933D-1DFEEE1B37F5}"/>
              </a:ext>
            </a:extLst>
          </p:cNvPr>
          <p:cNvSpPr>
            <a:spLocks xmlns:a="http://schemas.openxmlformats.org/drawingml/2006/main" noGrp="1"/>
          </p:cNvSpPr>
          <p:nvPr/>
        </p:nvSpPr>
        <p:spPr>
          <a:xfrm xmlns:a="http://schemas.openxmlformats.org/drawingml/2006/main">
            <a:off x="4905375" y="3714750"/>
            <a:ext cx="2095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1425" b="1" i="0">
                <a:solidFill>
                  <a:srgbClr val="C5933D"/>
                </a:solidFill>
                <a:latin typeface="DejaVu Sans"/>
                <a:ea typeface="DejaVu Sans"/>
                <a:cs typeface="DejaVu Sans"/>
              </a:defRPr>
            </a:pPr>
            <a:r>
              <a:rPr sz="1425" b="1" i="0">
                <a:solidFill>
                  <a:srgbClr val="C5933D"/>
                </a:solidFill>
                <a:latin typeface="DejaVu Sans"/>
                <a:ea typeface="DejaVu Sans"/>
                <a:cs typeface="DejaVu Sans"/>
              </a:rPr>
              <a:t>Code, tests and data: github.com/ACM40960/projects-neeraj</a:t>
            </a:r>
          </a:p>
        </p:txBody>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ee847734465d4a33"/>
          <a:stretch xmlns:a="http://schemas.openxmlformats.org/drawingml/2006/main"/>
        </p:blipFill>
        <p:spPr>
          <a:xfrm xmlns:a="http://schemas.openxmlformats.org/drawingml/2006/main">
            <a:off x="26798045" y="400050"/>
            <a:ext cx="2248985" cy="3257550"/>
          </a:xfrm>
          <a:prstGeom xmlns:a="http://schemas.openxmlformats.org/drawingml/2006/main" prst="rect">
            <a:avLst/>
          </a:prstGeom>
        </p:spPr>
      </p:pic>
      <p:sp>
        <p:nvSpPr>
          <p:cNvPr id="11" name="left-column-surface">
            <a:extLst xmlns:a="http://schemas.openxmlformats.org/drawingml/2006/main">
              <a:ext uri="{FF2B5EF4-FFF2-40B4-BE49-F238E27FC236}">
                <a16:creationId xmlns:a16="http://schemas.microsoft.com/office/drawing/2014/main" id="{47746908-E3D5-4EFF-BED1-DD4F57736156}"/>
              </a:ext>
            </a:extLst>
          </p:cNvPr>
          <p:cNvSpPr>
            <a:spLocks xmlns:a="http://schemas.openxmlformats.org/drawingml/2006/main" noGrp="1"/>
          </p:cNvSpPr>
          <p:nvPr/>
        </p:nvSpPr>
        <p:spPr>
          <a:xfrm xmlns:a="http://schemas.openxmlformats.org/drawingml/2006/main">
            <a:off x="666750" y="4476750"/>
            <a:ext cx="9391650" cy="37576125"/>
          </a:xfrm>
          <a:prstGeom xmlns:a="http://schemas.openxmlformats.org/drawingml/2006/main" prst="roundRect">
            <a:avLst>
              <a:gd name="adj" fmla="val 3448"/>
            </a:avLst>
          </a:prstGeom>
          <a:solidFill xmlns:a="http://schemas.openxmlformats.org/drawingml/2006/main">
            <a:srgbClr val="FFF9EE"/>
          </a:solidFill>
          <a:ln xmlns:a="http://schemas.openxmlformats.org/drawingml/2006/main" w="19050">
            <a:solidFill>
              <a:srgbClr val="D8C5A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center-column-surface">
            <a:extLst xmlns:a="http://schemas.openxmlformats.org/drawingml/2006/main">
              <a:ext uri="{FF2B5EF4-FFF2-40B4-BE49-F238E27FC236}">
                <a16:creationId xmlns:a16="http://schemas.microsoft.com/office/drawing/2014/main" id="{1582E73E-37E0-4DD0-8417-D4F5E0EB6E64}"/>
              </a:ext>
            </a:extLst>
          </p:cNvPr>
          <p:cNvSpPr>
            <a:spLocks xmlns:a="http://schemas.openxmlformats.org/drawingml/2006/main" noGrp="1"/>
          </p:cNvSpPr>
          <p:nvPr/>
        </p:nvSpPr>
        <p:spPr>
          <a:xfrm xmlns:a="http://schemas.openxmlformats.org/drawingml/2006/main">
            <a:off x="10439400" y="4476750"/>
            <a:ext cx="9391650" cy="37576125"/>
          </a:xfrm>
          <a:prstGeom xmlns:a="http://schemas.openxmlformats.org/drawingml/2006/main" prst="roundRect">
            <a:avLst>
              <a:gd name="adj" fmla="val 3448"/>
            </a:avLst>
          </a:prstGeom>
          <a:solidFill xmlns:a="http://schemas.openxmlformats.org/drawingml/2006/main">
            <a:srgbClr val="FFF9EE"/>
          </a:solidFill>
          <a:ln xmlns:a="http://schemas.openxmlformats.org/drawingml/2006/main" w="19050">
            <a:solidFill>
              <a:srgbClr val="D8C5A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right-column-surface">
            <a:extLst xmlns:a="http://schemas.openxmlformats.org/drawingml/2006/main">
              <a:ext uri="{FF2B5EF4-FFF2-40B4-BE49-F238E27FC236}">
                <a16:creationId xmlns:a16="http://schemas.microsoft.com/office/drawing/2014/main" id="{442DC474-8C06-43C5-A47E-EB5707739E59}"/>
              </a:ext>
            </a:extLst>
          </p:cNvPr>
          <p:cNvSpPr>
            <a:spLocks xmlns:a="http://schemas.openxmlformats.org/drawingml/2006/main" noGrp="1"/>
          </p:cNvSpPr>
          <p:nvPr/>
        </p:nvSpPr>
        <p:spPr>
          <a:xfrm xmlns:a="http://schemas.openxmlformats.org/drawingml/2006/main">
            <a:off x="20212050" y="4476750"/>
            <a:ext cx="9391650" cy="37576125"/>
          </a:xfrm>
          <a:prstGeom xmlns:a="http://schemas.openxmlformats.org/drawingml/2006/main" prst="roundRect">
            <a:avLst>
              <a:gd name="adj" fmla="val 3448"/>
            </a:avLst>
          </a:prstGeom>
          <a:solidFill xmlns:a="http://schemas.openxmlformats.org/drawingml/2006/main">
            <a:srgbClr val="FFF9EE"/>
          </a:solidFill>
          <a:ln xmlns:a="http://schemas.openxmlformats.org/drawingml/2006/main" w="19050">
            <a:solidFill>
              <a:srgbClr val="D8C5A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revised-abstract-heading">
            <a:extLst xmlns:a="http://schemas.openxmlformats.org/drawingml/2006/main">
              <a:ext uri="{FF2B5EF4-FFF2-40B4-BE49-F238E27FC236}">
                <a16:creationId xmlns:a16="http://schemas.microsoft.com/office/drawing/2014/main" id="{3CD0D229-0EFA-4D5A-ACD8-E4FE5BF748AF}"/>
              </a:ext>
            </a:extLst>
          </p:cNvPr>
          <p:cNvSpPr>
            <a:spLocks xmlns:a="http://schemas.openxmlformats.org/drawingml/2006/main" noGrp="1"/>
          </p:cNvSpPr>
          <p:nvPr/>
        </p:nvSpPr>
        <p:spPr>
          <a:xfrm xmlns:a="http://schemas.openxmlformats.org/drawingml/2006/main">
            <a:off x="990600" y="49149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400" b="1" i="0">
                <a:solidFill>
                  <a:srgbClr val="6A1F2C"/>
                </a:solidFill>
                <a:latin typeface="DejaVu Serif"/>
                <a:ea typeface="DejaVu Serif"/>
                <a:cs typeface="DejaVu Serif"/>
              </a:defRPr>
            </a:pPr>
            <a:r>
              <a:rPr sz="2400" b="1" i="0">
                <a:solidFill>
                  <a:srgbClr val="6A1F2C"/>
                </a:solidFill>
                <a:latin typeface="DejaVu Serif"/>
                <a:ea typeface="DejaVu Serif"/>
                <a:cs typeface="DejaVu Serif"/>
              </a:rPr>
              <a:t>What is this project?</a:t>
            </a:r>
          </a:p>
        </p:txBody>
      </p:sp>
      <p:sp>
        <p:nvSpPr>
          <p:cNvPr id="15" name="revised-abstract-heading-rule">
            <a:extLst xmlns:a="http://schemas.openxmlformats.org/drawingml/2006/main">
              <a:ext uri="{FF2B5EF4-FFF2-40B4-BE49-F238E27FC236}">
                <a16:creationId xmlns:a16="http://schemas.microsoft.com/office/drawing/2014/main" id="{B49DC41F-6BFF-43FA-AAC8-79A87B8B7585}"/>
              </a:ext>
            </a:extLst>
          </p:cNvPr>
          <p:cNvSpPr>
            <a:spLocks xmlns:a="http://schemas.openxmlformats.org/drawingml/2006/main" noGrp="1"/>
          </p:cNvSpPr>
          <p:nvPr/>
        </p:nvSpPr>
        <p:spPr>
          <a:xfrm xmlns:a="http://schemas.openxmlformats.org/drawingml/2006/main">
            <a:off x="990600" y="53911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16" name="revised-abstract-heading-accent">
            <a:extLst xmlns:a="http://schemas.openxmlformats.org/drawingml/2006/main">
              <a:ext uri="{FF2B5EF4-FFF2-40B4-BE49-F238E27FC236}">
                <a16:creationId xmlns:a16="http://schemas.microsoft.com/office/drawing/2014/main" id="{69149EF2-BE4B-4D02-952F-D054CDF08DAA}"/>
              </a:ext>
            </a:extLst>
          </p:cNvPr>
          <p:cNvSpPr>
            <a:spLocks xmlns:a="http://schemas.openxmlformats.org/drawingml/2006/main" noGrp="1"/>
          </p:cNvSpPr>
          <p:nvPr/>
        </p:nvSpPr>
        <p:spPr>
          <a:xfrm xmlns:a="http://schemas.openxmlformats.org/drawingml/2006/main">
            <a:off x="990600" y="53911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17" name="revised-abstract-body">
            <a:extLst xmlns:a="http://schemas.openxmlformats.org/drawingml/2006/main">
              <a:ext uri="{FF2B5EF4-FFF2-40B4-BE49-F238E27FC236}">
                <a16:creationId xmlns:a16="http://schemas.microsoft.com/office/drawing/2014/main" id="{3ADD2916-B07B-4668-BE18-CC5540D565C9}"/>
              </a:ext>
            </a:extLst>
          </p:cNvPr>
          <p:cNvSpPr>
            <a:spLocks xmlns:a="http://schemas.openxmlformats.org/drawingml/2006/main" noGrp="1"/>
          </p:cNvSpPr>
          <p:nvPr/>
        </p:nvSpPr>
        <p:spPr>
          <a:xfrm xmlns:a="http://schemas.openxmlformats.org/drawingml/2006/main">
            <a:off x="990600" y="5562600"/>
            <a:ext cx="874395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725" b="0" i="0">
                <a:solidFill>
                  <a:srgbClr val="2B241F"/>
                </a:solidFill>
                <a:latin typeface="DejaVu Sans"/>
                <a:ea typeface="DejaVu Sans"/>
                <a:cs typeface="DejaVu Sans"/>
              </a:defRPr>
            </a:pPr>
            <a:r>
              <a:rPr sz="1725" b="0" i="0">
                <a:solidFill>
                  <a:srgbClr val="2B241F"/>
                </a:solidFill>
                <a:latin typeface="DejaVu Sans"/>
                <a:ea typeface="DejaVu Sans"/>
                <a:cs typeface="DejaVu Sans"/>
              </a:rPr>
              <a:t>Blackjack is a card game in which the player and dealer try to reach 21 without going over. This project asks a simple question: if a player follows one of three decision rules, how much should they expect to win or lose? A computer plays 100,000 rounds for each rule, records every outcome and calculates the average return. Formulae from the literature review check the mathematics; a fixed random seed, automated tests and validation experiments check that the result can be repeated and trusted.</a:t>
            </a:r>
          </a:p>
        </p:txBody>
      </p:sp>
      <p:sp>
        <p:nvSpPr>
          <p:cNvPr id="18" name="">
            <a:extLst xmlns:a="http://schemas.openxmlformats.org/drawingml/2006/main">
              <a:ext uri="{FF2B5EF4-FFF2-40B4-BE49-F238E27FC236}">
                <a16:creationId xmlns:a16="http://schemas.microsoft.com/office/drawing/2014/main" id="{0A153277-439E-468C-983A-726F643DCE76}"/>
              </a:ext>
            </a:extLst>
          </p:cNvPr>
          <p:cNvSpPr>
            <a:spLocks xmlns:a="http://schemas.openxmlformats.org/drawingml/2006/main" noGrp="1"/>
          </p:cNvSpPr>
          <p:nvPr/>
        </p:nvSpPr>
        <p:spPr>
          <a:xfrm xmlns:a="http://schemas.openxmlformats.org/drawingml/2006/main">
            <a:off x="990600" y="914400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19" name="revised-question-heading">
            <a:extLst xmlns:a="http://schemas.openxmlformats.org/drawingml/2006/main">
              <a:ext uri="{FF2B5EF4-FFF2-40B4-BE49-F238E27FC236}">
                <a16:creationId xmlns:a16="http://schemas.microsoft.com/office/drawing/2014/main" id="{2B01573E-48E7-466E-A7F7-BEEAB2A8E298}"/>
              </a:ext>
            </a:extLst>
          </p:cNvPr>
          <p:cNvSpPr>
            <a:spLocks xmlns:a="http://schemas.openxmlformats.org/drawingml/2006/main" noGrp="1"/>
          </p:cNvSpPr>
          <p:nvPr/>
        </p:nvSpPr>
        <p:spPr>
          <a:xfrm xmlns:a="http://schemas.openxmlformats.org/drawingml/2006/main">
            <a:off x="990600" y="94488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400" b="1" i="0">
                <a:solidFill>
                  <a:srgbClr val="6A1F2C"/>
                </a:solidFill>
                <a:latin typeface="DejaVu Serif"/>
                <a:ea typeface="DejaVu Serif"/>
                <a:cs typeface="DejaVu Serif"/>
              </a:defRPr>
            </a:pPr>
            <a:r>
              <a:rPr sz="2400" b="1" i="0">
                <a:solidFill>
                  <a:srgbClr val="6A1F2C"/>
                </a:solidFill>
                <a:latin typeface="DejaVu Serif"/>
                <a:ea typeface="DejaVu Serif"/>
                <a:cs typeface="DejaVu Serif"/>
              </a:rPr>
              <a:t>The simple question</a:t>
            </a:r>
          </a:p>
        </p:txBody>
      </p:sp>
      <p:sp>
        <p:nvSpPr>
          <p:cNvPr id="20" name="revised-question-heading-rule">
            <a:extLst xmlns:a="http://schemas.openxmlformats.org/drawingml/2006/main">
              <a:ext uri="{FF2B5EF4-FFF2-40B4-BE49-F238E27FC236}">
                <a16:creationId xmlns:a16="http://schemas.microsoft.com/office/drawing/2014/main" id="{D9671EB0-2D7A-4255-AF60-B9BF3DC3265B}"/>
              </a:ext>
            </a:extLst>
          </p:cNvPr>
          <p:cNvSpPr>
            <a:spLocks xmlns:a="http://schemas.openxmlformats.org/drawingml/2006/main" noGrp="1"/>
          </p:cNvSpPr>
          <p:nvPr/>
        </p:nvSpPr>
        <p:spPr>
          <a:xfrm xmlns:a="http://schemas.openxmlformats.org/drawingml/2006/main">
            <a:off x="990600" y="99250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21" name="revised-question-heading-accent">
            <a:extLst xmlns:a="http://schemas.openxmlformats.org/drawingml/2006/main">
              <a:ext uri="{FF2B5EF4-FFF2-40B4-BE49-F238E27FC236}">
                <a16:creationId xmlns:a16="http://schemas.microsoft.com/office/drawing/2014/main" id="{0180546A-2656-45DC-952D-9B7C0D94470D}"/>
              </a:ext>
            </a:extLst>
          </p:cNvPr>
          <p:cNvSpPr>
            <a:spLocks xmlns:a="http://schemas.openxmlformats.org/drawingml/2006/main" noGrp="1"/>
          </p:cNvSpPr>
          <p:nvPr/>
        </p:nvSpPr>
        <p:spPr>
          <a:xfrm xmlns:a="http://schemas.openxmlformats.org/drawingml/2006/main">
            <a:off x="990600" y="99250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22" name="revised-research-question">
            <a:extLst xmlns:a="http://schemas.openxmlformats.org/drawingml/2006/main">
              <a:ext uri="{FF2B5EF4-FFF2-40B4-BE49-F238E27FC236}">
                <a16:creationId xmlns:a16="http://schemas.microsoft.com/office/drawing/2014/main" id="{B1C27A01-E112-4274-B4E9-6D9E92585DB8}"/>
              </a:ext>
            </a:extLst>
          </p:cNvPr>
          <p:cNvSpPr>
            <a:spLocks xmlns:a="http://schemas.openxmlformats.org/drawingml/2006/main" noGrp="1"/>
          </p:cNvSpPr>
          <p:nvPr/>
        </p:nvSpPr>
        <p:spPr>
          <a:xfrm xmlns:a="http://schemas.openxmlformats.org/drawingml/2006/main">
            <a:off x="990600" y="10096500"/>
            <a:ext cx="8743950" cy="1952625"/>
          </a:xfrm>
          <a:prstGeom xmlns:a="http://schemas.openxmlformats.org/drawingml/2006/main" prst="roundRect">
            <a:avLst>
              <a:gd name="adj" fmla="val 10732"/>
            </a:avLst>
          </a:prstGeom>
          <a:solidFill xmlns:a="http://schemas.openxmlformats.org/drawingml/2006/main">
            <a:srgbClr val="F5E7CE"/>
          </a:solidFill>
          <a:ln xmlns:a="http://schemas.openxmlformats.org/drawingml/2006/main" w="28575">
            <a:solidFill>
              <a:srgbClr val="C5933D"/>
            </a:solidFill>
            <a:prstDash val="solid"/>
          </a:ln>
        </p:spPr>
        <p:txBody>
          <a:bodyPr xmlns:a="http://schemas.openxmlformats.org/drawingml/2006/main" lIns="228600" tIns="152400" rIns="228600" bIns="152400" anchor="ctr">
            <a:noAutofit/>
          </a:bodyPr>
          <a:lstStyle xmlns:a="http://schemas.openxmlformats.org/drawingml/2006/main"/>
          <a:p xmlns:a="http://schemas.openxmlformats.org/drawingml/2006/main">
            <a:pPr algn="ctr">
              <a:lnSpc>
                <a:spcPct val="108000"/>
              </a:lnSpc>
              <a:buNone/>
              <a:defRPr sz="2025" b="1">
                <a:solidFill>
                  <a:srgbClr val="7A2130"/>
                </a:solidFill>
                <a:latin typeface="DejaVu Serif"/>
                <a:ea typeface="DejaVu Serif"/>
                <a:cs typeface="DejaVu Serif"/>
              </a:defRPr>
            </a:pPr>
            <a:r>
              <a:rPr sz="2025" b="1">
                <a:solidFill>
                  <a:srgbClr val="7A2130"/>
                </a:solidFill>
                <a:latin typeface="DejaVu Serif"/>
                <a:ea typeface="DejaVu Serif"/>
                <a:cs typeface="DejaVu Serif"/>
              </a:rPr>
              <a:t>Which of three ways to play gives the smallest average loss—and how certain are we about that answer?</a:t>
            </a:r>
          </a:p>
        </p:txBody>
      </p:sp>
      <p:sp>
        <p:nvSpPr>
          <p:cNvPr id="23" name="revised-scope-heading">
            <a:extLst xmlns:a="http://schemas.openxmlformats.org/drawingml/2006/main">
              <a:ext uri="{FF2B5EF4-FFF2-40B4-BE49-F238E27FC236}">
                <a16:creationId xmlns:a16="http://schemas.microsoft.com/office/drawing/2014/main" id="{6BF9ABE4-97A1-4F98-8CA1-B9997A0D4B8C}"/>
              </a:ext>
            </a:extLst>
          </p:cNvPr>
          <p:cNvSpPr>
            <a:spLocks xmlns:a="http://schemas.openxmlformats.org/drawingml/2006/main" noGrp="1"/>
          </p:cNvSpPr>
          <p:nvPr/>
        </p:nvSpPr>
        <p:spPr>
          <a:xfrm xmlns:a="http://schemas.openxmlformats.org/drawingml/2006/main">
            <a:off x="990600" y="12430125"/>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250" b="1" i="0">
                <a:solidFill>
                  <a:srgbClr val="6A1F2C"/>
                </a:solidFill>
                <a:latin typeface="DejaVu Serif"/>
                <a:ea typeface="DejaVu Serif"/>
                <a:cs typeface="DejaVu Serif"/>
              </a:defRPr>
            </a:pPr>
            <a:r>
              <a:rPr sz="2250" b="1" i="0">
                <a:solidFill>
                  <a:srgbClr val="6A1F2C"/>
                </a:solidFill>
                <a:latin typeface="DejaVu Serif"/>
                <a:ea typeface="DejaVu Serif"/>
                <a:cs typeface="DejaVu Serif"/>
              </a:rPr>
              <a:t>How the game and strategies work</a:t>
            </a:r>
          </a:p>
        </p:txBody>
      </p:sp>
      <p:sp>
        <p:nvSpPr>
          <p:cNvPr id="24" name="revised-scope-heading-rule">
            <a:extLst xmlns:a="http://schemas.openxmlformats.org/drawingml/2006/main">
              <a:ext uri="{FF2B5EF4-FFF2-40B4-BE49-F238E27FC236}">
                <a16:creationId xmlns:a16="http://schemas.microsoft.com/office/drawing/2014/main" id="{9B5FD978-0D2B-4B63-B103-3C0A37189A29}"/>
              </a:ext>
            </a:extLst>
          </p:cNvPr>
          <p:cNvSpPr>
            <a:spLocks xmlns:a="http://schemas.openxmlformats.org/drawingml/2006/main" noGrp="1"/>
          </p:cNvSpPr>
          <p:nvPr/>
        </p:nvSpPr>
        <p:spPr>
          <a:xfrm xmlns:a="http://schemas.openxmlformats.org/drawingml/2006/main">
            <a:off x="990600" y="12906375"/>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25" name="revised-scope-heading-accent">
            <a:extLst xmlns:a="http://schemas.openxmlformats.org/drawingml/2006/main">
              <a:ext uri="{FF2B5EF4-FFF2-40B4-BE49-F238E27FC236}">
                <a16:creationId xmlns:a16="http://schemas.microsoft.com/office/drawing/2014/main" id="{38D2C38A-B741-461E-82A9-A05032FBF373}"/>
              </a:ext>
            </a:extLst>
          </p:cNvPr>
          <p:cNvSpPr>
            <a:spLocks xmlns:a="http://schemas.openxmlformats.org/drawingml/2006/main" noGrp="1"/>
          </p:cNvSpPr>
          <p:nvPr/>
        </p:nvSpPr>
        <p:spPr>
          <a:xfrm xmlns:a="http://schemas.openxmlformats.org/drawingml/2006/main">
            <a:off x="990600" y="12906375"/>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26" name="revised-scope-bullets">
            <a:extLst xmlns:a="http://schemas.openxmlformats.org/drawingml/2006/main">
              <a:ext uri="{FF2B5EF4-FFF2-40B4-BE49-F238E27FC236}">
                <a16:creationId xmlns:a16="http://schemas.microsoft.com/office/drawing/2014/main" id="{E0FA9A1D-10FB-4430-BA9A-E12736957055}"/>
              </a:ext>
            </a:extLst>
          </p:cNvPr>
          <p:cNvSpPr>
            <a:spLocks xmlns:a="http://schemas.openxmlformats.org/drawingml/2006/main" noGrp="1"/>
          </p:cNvSpPr>
          <p:nvPr/>
        </p:nvSpPr>
        <p:spPr>
          <a:xfrm xmlns:a="http://schemas.openxmlformats.org/drawingml/2006/main">
            <a:off x="990600" y="13077825"/>
            <a:ext cx="87439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32" indent="-18" algn="l">
              <a:lnSpc>
                <a:spcPct val="105000"/>
              </a:lnSpc>
              <a:spcAft>
                <a:spcPts val="5"/>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Goal:</a:t>
            </a:r>
            <a:r>
              <a:rPr sz="1575">
                <a:solidFill>
                  <a:srgbClr val="2B241F"/>
                </a:solidFill>
                <a:latin typeface="DejaVu Sans"/>
                <a:ea typeface="DejaVu Sans"/>
                <a:cs typeface="DejaVu Sans"/>
              </a:rPr>
              <a:t> finish closer to 21 than the dealer; a total above 21 is a bust and loses.</a:t>
            </a:r>
          </a:p>
          <a:p xmlns:a="http://schemas.openxmlformats.org/drawingml/2006/main">
            <a:pPr marL="32" indent="-18" algn="l">
              <a:lnSpc>
                <a:spcPct val="105000"/>
              </a:lnSpc>
              <a:spcAft>
                <a:spcPts val="5"/>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Game:</a:t>
            </a:r>
            <a:r>
              <a:rPr sz="1575">
                <a:solidFill>
                  <a:srgbClr val="2B241F"/>
                </a:solidFill>
                <a:latin typeface="DejaVu Sans"/>
                <a:ea typeface="DejaVu Sans"/>
                <a:cs typeface="DejaVu Sans"/>
              </a:rPr>
              <a:t> one 52-card deck, dealer stands on every 17, and a natural Blackjack pays 3:2.</a:t>
            </a:r>
          </a:p>
          <a:p xmlns:a="http://schemas.openxmlformats.org/drawingml/2006/main">
            <a:pPr marL="32" indent="-18" algn="l">
              <a:lnSpc>
                <a:spcPct val="105000"/>
              </a:lnSpc>
              <a:spcAft>
                <a:spcPts val="5"/>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Naive:</a:t>
            </a:r>
            <a:r>
              <a:rPr sz="1575">
                <a:solidFill>
                  <a:srgbClr val="2B241F"/>
                </a:solidFill>
                <a:latin typeface="DejaVu Sans"/>
                <a:ea typeface="DejaVu Sans"/>
                <a:cs typeface="DejaVu Sans"/>
              </a:rPr>
              <a:t> hit below 17 and stand on 17 or more.</a:t>
            </a:r>
          </a:p>
          <a:p xmlns:a="http://schemas.openxmlformats.org/drawingml/2006/main">
            <a:pPr marL="32" indent="-18" algn="l">
              <a:lnSpc>
                <a:spcPct val="105000"/>
              </a:lnSpc>
              <a:spcAft>
                <a:spcPts val="5"/>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Dealer-like:</a:t>
            </a:r>
            <a:r>
              <a:rPr sz="1575">
                <a:solidFill>
                  <a:srgbClr val="2B241F"/>
                </a:solidFill>
                <a:latin typeface="DejaVu Sans"/>
                <a:ea typeface="DejaVu Sans"/>
                <a:cs typeface="DejaVu Sans"/>
              </a:rPr>
              <a:t> follow the dealer threshold but also hit a soft 17 (Ace + 6).</a:t>
            </a:r>
          </a:p>
          <a:p xmlns:a="http://schemas.openxmlformats.org/drawingml/2006/main">
            <a:pPr marL="32" indent="-18" algn="l">
              <a:lnSpc>
                <a:spcPct val="105000"/>
              </a:lnSpc>
              <a:spcAft>
                <a:spcPts val="5"/>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Basic:</a:t>
            </a:r>
            <a:r>
              <a:rPr sz="1575">
                <a:solidFill>
                  <a:srgbClr val="2B241F"/>
                </a:solidFill>
                <a:latin typeface="DejaVu Sans"/>
                <a:ea typeface="DejaVu Sans"/>
                <a:cs typeface="DejaVu Sans"/>
              </a:rPr>
              <a:t> use the player's total, usable Ace and dealer's visible card to decide.</a:t>
            </a:r>
          </a:p>
        </p:txBody>
      </p:sp>
      <p:sp>
        <p:nvSpPr>
          <p:cNvPr id="27" name="">
            <a:extLst xmlns:a="http://schemas.openxmlformats.org/drawingml/2006/main">
              <a:ext uri="{FF2B5EF4-FFF2-40B4-BE49-F238E27FC236}">
                <a16:creationId xmlns:a16="http://schemas.microsoft.com/office/drawing/2014/main" id="{287D0549-BADF-4033-8BBF-4AFABD619714}"/>
              </a:ext>
            </a:extLst>
          </p:cNvPr>
          <p:cNvSpPr>
            <a:spLocks xmlns:a="http://schemas.openxmlformats.org/drawingml/2006/main" noGrp="1"/>
          </p:cNvSpPr>
          <p:nvPr/>
        </p:nvSpPr>
        <p:spPr>
          <a:xfrm xmlns:a="http://schemas.openxmlformats.org/drawingml/2006/main">
            <a:off x="990600" y="16335375"/>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28" name="formulae-heading">
            <a:extLst xmlns:a="http://schemas.openxmlformats.org/drawingml/2006/main">
              <a:ext uri="{FF2B5EF4-FFF2-40B4-BE49-F238E27FC236}">
                <a16:creationId xmlns:a16="http://schemas.microsoft.com/office/drawing/2014/main" id="{1D6BC7A2-8F43-4FB8-AF08-982458554F8F}"/>
              </a:ext>
            </a:extLst>
          </p:cNvPr>
          <p:cNvSpPr>
            <a:spLocks xmlns:a="http://schemas.openxmlformats.org/drawingml/2006/main" noGrp="1"/>
          </p:cNvSpPr>
          <p:nvPr/>
        </p:nvSpPr>
        <p:spPr>
          <a:xfrm xmlns:a="http://schemas.openxmlformats.org/drawingml/2006/main">
            <a:off x="990600" y="16640175"/>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250" b="1" i="0">
                <a:solidFill>
                  <a:srgbClr val="6A1F2C"/>
                </a:solidFill>
                <a:latin typeface="DejaVu Serif"/>
                <a:ea typeface="DejaVu Serif"/>
                <a:cs typeface="DejaVu Serif"/>
              </a:defRPr>
            </a:pPr>
            <a:r>
              <a:rPr sz="2250" b="1" i="0">
                <a:solidFill>
                  <a:srgbClr val="6A1F2C"/>
                </a:solidFill>
                <a:latin typeface="DejaVu Serif"/>
                <a:ea typeface="DejaVu Serif"/>
                <a:cs typeface="DejaVu Serif"/>
              </a:rPr>
              <a:t>Formulae from the literature review</a:t>
            </a:r>
          </a:p>
        </p:txBody>
      </p:sp>
      <p:sp>
        <p:nvSpPr>
          <p:cNvPr id="29" name="formulae-heading-rule">
            <a:extLst xmlns:a="http://schemas.openxmlformats.org/drawingml/2006/main">
              <a:ext uri="{FF2B5EF4-FFF2-40B4-BE49-F238E27FC236}">
                <a16:creationId xmlns:a16="http://schemas.microsoft.com/office/drawing/2014/main" id="{7BED00F8-C59D-4F31-8D6F-C4125346277E}"/>
              </a:ext>
            </a:extLst>
          </p:cNvPr>
          <p:cNvSpPr>
            <a:spLocks xmlns:a="http://schemas.openxmlformats.org/drawingml/2006/main" noGrp="1"/>
          </p:cNvSpPr>
          <p:nvPr/>
        </p:nvSpPr>
        <p:spPr>
          <a:xfrm xmlns:a="http://schemas.openxmlformats.org/drawingml/2006/main">
            <a:off x="990600" y="17116425"/>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30" name="formulae-heading-accent">
            <a:extLst xmlns:a="http://schemas.openxmlformats.org/drawingml/2006/main">
              <a:ext uri="{FF2B5EF4-FFF2-40B4-BE49-F238E27FC236}">
                <a16:creationId xmlns:a16="http://schemas.microsoft.com/office/drawing/2014/main" id="{DAACD2AF-8BC9-47C1-9E4B-E01D26315F1C}"/>
              </a:ext>
            </a:extLst>
          </p:cNvPr>
          <p:cNvSpPr>
            <a:spLocks xmlns:a="http://schemas.openxmlformats.org/drawingml/2006/main" noGrp="1"/>
          </p:cNvSpPr>
          <p:nvPr/>
        </p:nvSpPr>
        <p:spPr>
          <a:xfrm xmlns:a="http://schemas.openxmlformats.org/drawingml/2006/main">
            <a:off x="990600" y="17116425"/>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31" name="formulae-frame">
            <a:extLst xmlns:a="http://schemas.openxmlformats.org/drawingml/2006/main">
              <a:ext uri="{FF2B5EF4-FFF2-40B4-BE49-F238E27FC236}">
                <a16:creationId xmlns:a16="http://schemas.microsoft.com/office/drawing/2014/main" id="{42E655C6-CEC2-4D23-98E1-C7BF26F3D3E7}"/>
              </a:ext>
            </a:extLst>
          </p:cNvPr>
          <p:cNvSpPr>
            <a:spLocks xmlns:a="http://schemas.openxmlformats.org/drawingml/2006/main" noGrp="1"/>
          </p:cNvSpPr>
          <p:nvPr/>
        </p:nvSpPr>
        <p:spPr>
          <a:xfrm xmlns:a="http://schemas.openxmlformats.org/drawingml/2006/main">
            <a:off x="990600" y="17287875"/>
            <a:ext cx="8743950" cy="13382625"/>
          </a:xfrm>
          <a:prstGeom xmlns:a="http://schemas.openxmlformats.org/drawingml/2006/main" prst="roundRect">
            <a:avLst>
              <a:gd name="adj" fmla="val 2397"/>
            </a:avLst>
          </a:prstGeom>
          <a:solidFill xmlns:a="http://schemas.openxmlformats.org/drawingml/2006/main">
            <a:srgbClr val="FFF9EE"/>
          </a:solidFill>
          <a:ln xmlns:a="http://schemas.openxmlformats.org/drawingml/2006/main" w="19050">
            <a:solidFill>
              <a:srgbClr val="D8C5A4"/>
            </a:solidFill>
            <a:prstDash val="solid"/>
          </a:ln>
        </p:spPr>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af90ca90dc5b4dea"/>
          <a:stretch xmlns:a="http://schemas.openxmlformats.org/drawingml/2006/main"/>
        </p:blipFill>
        <p:spPr>
          <a:xfrm xmlns:a="http://schemas.openxmlformats.org/drawingml/2006/main">
            <a:off x="1916243" y="17430750"/>
            <a:ext cx="6892663" cy="11430000"/>
          </a:xfrm>
          <a:prstGeom xmlns:a="http://schemas.openxmlformats.org/drawingml/2006/main" prst="rect">
            <a:avLst/>
          </a:prstGeom>
        </p:spPr>
      </p:pic>
      <p:sp>
        <p:nvSpPr>
          <p:cNvPr id="33" name="formulae-plain-language-guide">
            <a:extLst xmlns:a="http://schemas.openxmlformats.org/drawingml/2006/main">
              <a:ext uri="{FF2B5EF4-FFF2-40B4-BE49-F238E27FC236}">
                <a16:creationId xmlns:a16="http://schemas.microsoft.com/office/drawing/2014/main" id="{0E391A7B-B54E-4099-A509-3EB4A570EB80}"/>
              </a:ext>
            </a:extLst>
          </p:cNvPr>
          <p:cNvSpPr>
            <a:spLocks xmlns:a="http://schemas.openxmlformats.org/drawingml/2006/main" noGrp="1"/>
          </p:cNvSpPr>
          <p:nvPr/>
        </p:nvSpPr>
        <p:spPr>
          <a:xfrm xmlns:a="http://schemas.openxmlformats.org/drawingml/2006/main">
            <a:off x="1257300" y="29003625"/>
            <a:ext cx="8210550" cy="1428750"/>
          </a:xfrm>
          <a:prstGeom xmlns:a="http://schemas.openxmlformats.org/drawingml/2006/main" prst="roundRect">
            <a:avLst>
              <a:gd name="adj" fmla="val 9333"/>
            </a:avLst>
          </a:prstGeom>
          <a:solidFill xmlns:a="http://schemas.openxmlformats.org/drawingml/2006/main">
            <a:srgbClr val="F5E7CE"/>
          </a:solidFill>
          <a:ln xmlns:a="http://schemas.openxmlformats.org/drawingml/2006/main" w="9525">
            <a:solidFill>
              <a:srgbClr val="D8C5A4"/>
            </a:solidFill>
            <a:prstDash val="solid"/>
          </a:ln>
        </p:spPr>
        <p:txBody>
          <a:bodyPr xmlns:a="http://schemas.openxmlformats.org/drawingml/2006/main" lIns="171450" tIns="95250" rIns="171450" bIns="95250" anchor="ctr">
            <a:noAutofit/>
          </a:bodyPr>
          <a:lstStyle xmlns:a="http://schemas.openxmlformats.org/drawingml/2006/main"/>
          <a:p xmlns:a="http://schemas.openxmlformats.org/drawingml/2006/main">
            <a:pPr algn="ctr">
              <a:lnSpc>
                <a:spcPct val="112000"/>
              </a:lnSpc>
              <a:buNone/>
              <a:defRPr sz="1425" b="1" i="0">
                <a:solidFill>
                  <a:srgbClr val="6A1F2C"/>
                </a:solidFill>
                <a:latin typeface="DejaVu Sans"/>
                <a:ea typeface="DejaVu Sans"/>
                <a:cs typeface="DejaVu Sans"/>
              </a:defRPr>
            </a:pPr>
            <a:r>
              <a:rPr sz="1425" b="1" i="0">
                <a:solidFill>
                  <a:srgbClr val="6A1F2C"/>
                </a:solidFill>
                <a:latin typeface="DejaVu Sans"/>
                <a:ea typeface="DejaVu Sans"/>
                <a:cs typeface="DejaVu Sans"/>
              </a:rPr>
              <a:t>Quick guide — EV: average gain or loss per hand  •  House edge: casino advantage  •  SE: uncertainty in the estimate  •  95% CI: likely range for the true EV</a:t>
            </a:r>
          </a:p>
        </p:txBody>
      </p:sp>
      <p:sp>
        <p:nvSpPr>
          <p:cNvPr id="34" name="revised-method-heading">
            <a:extLst xmlns:a="http://schemas.openxmlformats.org/drawingml/2006/main">
              <a:ext uri="{FF2B5EF4-FFF2-40B4-BE49-F238E27FC236}">
                <a16:creationId xmlns:a16="http://schemas.microsoft.com/office/drawing/2014/main" id="{BF4DD60E-CA5D-41DE-A1A2-B56008426B4D}"/>
              </a:ext>
            </a:extLst>
          </p:cNvPr>
          <p:cNvSpPr>
            <a:spLocks xmlns:a="http://schemas.openxmlformats.org/drawingml/2006/main" noGrp="1"/>
          </p:cNvSpPr>
          <p:nvPr/>
        </p:nvSpPr>
        <p:spPr>
          <a:xfrm xmlns:a="http://schemas.openxmlformats.org/drawingml/2006/main">
            <a:off x="990600" y="31003875"/>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400" b="1" i="0">
                <a:solidFill>
                  <a:srgbClr val="6A1F2C"/>
                </a:solidFill>
                <a:latin typeface="DejaVu Serif"/>
                <a:ea typeface="DejaVu Serif"/>
                <a:cs typeface="DejaVu Serif"/>
              </a:defRPr>
            </a:pPr>
            <a:r>
              <a:rPr sz="2400" b="1" i="0">
                <a:solidFill>
                  <a:srgbClr val="6A1F2C"/>
                </a:solidFill>
                <a:latin typeface="DejaVu Serif"/>
                <a:ea typeface="DejaVu Serif"/>
                <a:cs typeface="DejaVu Serif"/>
              </a:rPr>
              <a:t>What the computer repeats</a:t>
            </a:r>
          </a:p>
        </p:txBody>
      </p:sp>
      <p:sp>
        <p:nvSpPr>
          <p:cNvPr id="35" name="revised-method-heading-rule">
            <a:extLst xmlns:a="http://schemas.openxmlformats.org/drawingml/2006/main">
              <a:ext uri="{FF2B5EF4-FFF2-40B4-BE49-F238E27FC236}">
                <a16:creationId xmlns:a16="http://schemas.microsoft.com/office/drawing/2014/main" id="{AA554244-2890-439A-B1F5-4E5038A8D696}"/>
              </a:ext>
            </a:extLst>
          </p:cNvPr>
          <p:cNvSpPr>
            <a:spLocks xmlns:a="http://schemas.openxmlformats.org/drawingml/2006/main" noGrp="1"/>
          </p:cNvSpPr>
          <p:nvPr/>
        </p:nvSpPr>
        <p:spPr>
          <a:xfrm xmlns:a="http://schemas.openxmlformats.org/drawingml/2006/main">
            <a:off x="990600" y="31480125"/>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36" name="revised-method-heading-accent">
            <a:extLst xmlns:a="http://schemas.openxmlformats.org/drawingml/2006/main">
              <a:ext uri="{FF2B5EF4-FFF2-40B4-BE49-F238E27FC236}">
                <a16:creationId xmlns:a16="http://schemas.microsoft.com/office/drawing/2014/main" id="{55F8F9CD-42F8-4C59-9CAA-C75BDF1793A5}"/>
              </a:ext>
            </a:extLst>
          </p:cNvPr>
          <p:cNvSpPr>
            <a:spLocks xmlns:a="http://schemas.openxmlformats.org/drawingml/2006/main" noGrp="1"/>
          </p:cNvSpPr>
          <p:nvPr/>
        </p:nvSpPr>
        <p:spPr>
          <a:xfrm xmlns:a="http://schemas.openxmlformats.org/drawingml/2006/main">
            <a:off x="990600" y="31480125"/>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37" name="revised-method-bullets">
            <a:extLst xmlns:a="http://schemas.openxmlformats.org/drawingml/2006/main">
              <a:ext uri="{FF2B5EF4-FFF2-40B4-BE49-F238E27FC236}">
                <a16:creationId xmlns:a16="http://schemas.microsoft.com/office/drawing/2014/main" id="{F81546E0-EE5A-45F9-96A6-9DA53206B974}"/>
              </a:ext>
            </a:extLst>
          </p:cNvPr>
          <p:cNvSpPr>
            <a:spLocks xmlns:a="http://schemas.openxmlformats.org/drawingml/2006/main" noGrp="1"/>
          </p:cNvSpPr>
          <p:nvPr/>
        </p:nvSpPr>
        <p:spPr>
          <a:xfrm xmlns:a="http://schemas.openxmlformats.org/drawingml/2006/main">
            <a:off x="990600" y="31651575"/>
            <a:ext cx="874395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32" indent="-18" algn="l">
              <a:lnSpc>
                <a:spcPct val="108000"/>
              </a:lnSpc>
              <a:spcAft>
                <a:spcPts val="9"/>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1. Shuffle:</a:t>
            </a:r>
            <a:r>
              <a:rPr sz="1650">
                <a:solidFill>
                  <a:srgbClr val="2B241F"/>
                </a:solidFill>
                <a:latin typeface="DejaVu Sans"/>
                <a:ea typeface="DejaVu Sans"/>
                <a:cs typeface="DejaVu Sans"/>
              </a:rPr>
              <a:t> create a fresh deck using recorded seed 25203038.</a:t>
            </a:r>
          </a:p>
          <a:p xmlns:a="http://schemas.openxmlformats.org/drawingml/2006/main">
            <a:pPr marL="32" indent="-18" algn="l">
              <a:lnSpc>
                <a:spcPct val="108000"/>
              </a:lnSpc>
              <a:spcAft>
                <a:spcPts val="9"/>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2. Deal:</a:t>
            </a:r>
            <a:r>
              <a:rPr sz="1650">
                <a:solidFill>
                  <a:srgbClr val="2B241F"/>
                </a:solidFill>
                <a:latin typeface="DejaVu Sans"/>
                <a:ea typeface="DejaVu Sans"/>
                <a:cs typeface="DejaVu Sans"/>
              </a:rPr>
              <a:t> give two cards to the player and dealer; check for naturals.</a:t>
            </a:r>
          </a:p>
          <a:p xmlns:a="http://schemas.openxmlformats.org/drawingml/2006/main">
            <a:pPr marL="32" indent="-18" algn="l">
              <a:lnSpc>
                <a:spcPct val="108000"/>
              </a:lnSpc>
              <a:spcAft>
                <a:spcPts val="9"/>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3. Decide:</a:t>
            </a:r>
            <a:r>
              <a:rPr sz="1650">
                <a:solidFill>
                  <a:srgbClr val="2B241F"/>
                </a:solidFill>
                <a:latin typeface="DejaVu Sans"/>
                <a:ea typeface="DejaVu Sans"/>
                <a:cs typeface="DejaVu Sans"/>
              </a:rPr>
              <a:t> use one strategy to hit or stand until play ends.</a:t>
            </a:r>
          </a:p>
          <a:p xmlns:a="http://schemas.openxmlformats.org/drawingml/2006/main">
            <a:pPr marL="32" indent="-18" algn="l">
              <a:lnSpc>
                <a:spcPct val="108000"/>
              </a:lnSpc>
              <a:spcAft>
                <a:spcPts val="9"/>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4. Score:</a:t>
            </a:r>
            <a:r>
              <a:rPr sz="1650">
                <a:solidFill>
                  <a:srgbClr val="2B241F"/>
                </a:solidFill>
                <a:latin typeface="DejaVu Sans"/>
                <a:ea typeface="DejaVu Sans"/>
                <a:cs typeface="DejaVu Sans"/>
              </a:rPr>
              <a:t> pay +1.5, +1, 0 or −1 unit according to the result.</a:t>
            </a:r>
          </a:p>
          <a:p xmlns:a="http://schemas.openxmlformats.org/drawingml/2006/main">
            <a:pPr marL="32" indent="-18" algn="l">
              <a:lnSpc>
                <a:spcPct val="108000"/>
              </a:lnSpc>
              <a:spcAft>
                <a:spcPts val="9"/>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5. Repeat:</a:t>
            </a:r>
            <a:r>
              <a:rPr sz="1650">
                <a:solidFill>
                  <a:srgbClr val="2B241F"/>
                </a:solidFill>
                <a:latin typeface="DejaVu Sans"/>
                <a:ea typeface="DejaVu Sans"/>
                <a:cs typeface="DejaVu Sans"/>
              </a:rPr>
              <a:t> summarise 100,000 hands with rates, EV, SE and a 95% CI.</a:t>
            </a:r>
          </a:p>
        </p:txBody>
      </p:sp>
      <p:sp>
        <p:nvSpPr>
          <p:cNvPr id="38" name="">
            <a:extLst xmlns:a="http://schemas.openxmlformats.org/drawingml/2006/main">
              <a:ext uri="{FF2B5EF4-FFF2-40B4-BE49-F238E27FC236}">
                <a16:creationId xmlns:a16="http://schemas.microsoft.com/office/drawing/2014/main" id="{B17C2896-D666-49F3-BA94-85DB54736DCF}"/>
              </a:ext>
            </a:extLst>
          </p:cNvPr>
          <p:cNvSpPr>
            <a:spLocks xmlns:a="http://schemas.openxmlformats.org/drawingml/2006/main" noGrp="1"/>
          </p:cNvSpPr>
          <p:nvPr/>
        </p:nvSpPr>
        <p:spPr>
          <a:xfrm xmlns:a="http://schemas.openxmlformats.org/drawingml/2006/main">
            <a:off x="990600" y="36337875"/>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39" name="revised-repro-heading">
            <a:extLst xmlns:a="http://schemas.openxmlformats.org/drawingml/2006/main">
              <a:ext uri="{FF2B5EF4-FFF2-40B4-BE49-F238E27FC236}">
                <a16:creationId xmlns:a16="http://schemas.microsoft.com/office/drawing/2014/main" id="{E689ABE5-76B8-44EE-9C44-D08AEEFAD23E}"/>
              </a:ext>
            </a:extLst>
          </p:cNvPr>
          <p:cNvSpPr>
            <a:spLocks xmlns:a="http://schemas.openxmlformats.org/drawingml/2006/main" noGrp="1"/>
          </p:cNvSpPr>
          <p:nvPr/>
        </p:nvSpPr>
        <p:spPr>
          <a:xfrm xmlns:a="http://schemas.openxmlformats.org/drawingml/2006/main">
            <a:off x="990600" y="36642675"/>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400" b="1" i="0">
                <a:solidFill>
                  <a:srgbClr val="6A1F2C"/>
                </a:solidFill>
                <a:latin typeface="DejaVu Serif"/>
                <a:ea typeface="DejaVu Serif"/>
                <a:cs typeface="DejaVu Serif"/>
              </a:defRPr>
            </a:pPr>
            <a:r>
              <a:rPr sz="2400" b="1" i="0">
                <a:solidFill>
                  <a:srgbClr val="6A1F2C"/>
                </a:solidFill>
                <a:latin typeface="DejaVu Serif"/>
                <a:ea typeface="DejaVu Serif"/>
                <a:cs typeface="DejaVu Serif"/>
              </a:rPr>
              <a:t>Why trust the result?</a:t>
            </a:r>
          </a:p>
        </p:txBody>
      </p:sp>
      <p:sp>
        <p:nvSpPr>
          <p:cNvPr id="40" name="revised-repro-heading-rule">
            <a:extLst xmlns:a="http://schemas.openxmlformats.org/drawingml/2006/main">
              <a:ext uri="{FF2B5EF4-FFF2-40B4-BE49-F238E27FC236}">
                <a16:creationId xmlns:a16="http://schemas.microsoft.com/office/drawing/2014/main" id="{ED2C4D23-6123-4177-978D-2AB4D5B18905}"/>
              </a:ext>
            </a:extLst>
          </p:cNvPr>
          <p:cNvSpPr>
            <a:spLocks xmlns:a="http://schemas.openxmlformats.org/drawingml/2006/main" noGrp="1"/>
          </p:cNvSpPr>
          <p:nvPr/>
        </p:nvSpPr>
        <p:spPr>
          <a:xfrm xmlns:a="http://schemas.openxmlformats.org/drawingml/2006/main">
            <a:off x="990600" y="37118925"/>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41" name="revised-repro-heading-accent">
            <a:extLst xmlns:a="http://schemas.openxmlformats.org/drawingml/2006/main">
              <a:ext uri="{FF2B5EF4-FFF2-40B4-BE49-F238E27FC236}">
                <a16:creationId xmlns:a16="http://schemas.microsoft.com/office/drawing/2014/main" id="{56978C2C-CA61-4E6C-ACE8-BEFA8C009117}"/>
              </a:ext>
            </a:extLst>
          </p:cNvPr>
          <p:cNvSpPr>
            <a:spLocks xmlns:a="http://schemas.openxmlformats.org/drawingml/2006/main" noGrp="1"/>
          </p:cNvSpPr>
          <p:nvPr/>
        </p:nvSpPr>
        <p:spPr>
          <a:xfrm xmlns:a="http://schemas.openxmlformats.org/drawingml/2006/main">
            <a:off x="990600" y="37118925"/>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42" name="revised-repro-body">
            <a:extLst xmlns:a="http://schemas.openxmlformats.org/drawingml/2006/main">
              <a:ext uri="{FF2B5EF4-FFF2-40B4-BE49-F238E27FC236}">
                <a16:creationId xmlns:a16="http://schemas.microsoft.com/office/drawing/2014/main" id="{649E8A71-B4BB-459B-BBD5-B53272C959DB}"/>
              </a:ext>
            </a:extLst>
          </p:cNvPr>
          <p:cNvSpPr>
            <a:spLocks xmlns:a="http://schemas.openxmlformats.org/drawingml/2006/main" noGrp="1"/>
          </p:cNvSpPr>
          <p:nvPr/>
        </p:nvSpPr>
        <p:spPr>
          <a:xfrm xmlns:a="http://schemas.openxmlformats.org/drawingml/2006/main">
            <a:off x="990600" y="37290375"/>
            <a:ext cx="87439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0" i="0">
                <a:solidFill>
                  <a:srgbClr val="2B241F"/>
                </a:solidFill>
                <a:latin typeface="DejaVu Sans"/>
                <a:ea typeface="DejaVu Sans"/>
                <a:cs typeface="DejaVu Sans"/>
              </a:defRPr>
            </a:pPr>
            <a:r>
              <a:rPr sz="1650" b="0" i="0">
                <a:solidFill>
                  <a:srgbClr val="2B241F"/>
                </a:solidFill>
                <a:latin typeface="DejaVu Sans"/>
                <a:ea typeface="DejaVu Sans"/>
                <a:cs typeface="DejaVu Sans"/>
              </a:rPr>
              <a:t>Every experiment records seed 25203038, so the same random sequence can be replayed. All three strategies use the same dealing, dealer and scoring code. The project has 98 passing automated tests, and the poster tables and figures come directly from the generated CSV results.</a:t>
            </a:r>
          </a:p>
        </p:txBody>
      </p:sp>
      <p:sp>
        <p:nvSpPr>
          <p:cNvPr id="43" name="revised-software-line">
            <a:extLst xmlns:a="http://schemas.openxmlformats.org/drawingml/2006/main">
              <a:ext uri="{FF2B5EF4-FFF2-40B4-BE49-F238E27FC236}">
                <a16:creationId xmlns:a16="http://schemas.microsoft.com/office/drawing/2014/main" id="{DBA591C8-0976-46AA-99AD-6775921C8C15}"/>
              </a:ext>
            </a:extLst>
          </p:cNvPr>
          <p:cNvSpPr>
            <a:spLocks xmlns:a="http://schemas.openxmlformats.org/drawingml/2006/main" noGrp="1"/>
          </p:cNvSpPr>
          <p:nvPr/>
        </p:nvSpPr>
        <p:spPr>
          <a:xfrm xmlns:a="http://schemas.openxmlformats.org/drawingml/2006/main">
            <a:off x="990600" y="40576500"/>
            <a:ext cx="8743950" cy="857250"/>
          </a:xfrm>
          <a:prstGeom xmlns:a="http://schemas.openxmlformats.org/drawingml/2006/main" prst="roundRect">
            <a:avLst>
              <a:gd name="adj" fmla="val 17778"/>
            </a:avLst>
          </a:prstGeom>
          <a:solidFill xmlns:a="http://schemas.openxmlformats.org/drawingml/2006/main">
            <a:srgbClr val="F5E7CE"/>
          </a:solidFill>
          <a:ln xmlns:a="http://schemas.openxmlformats.org/drawingml/2006/main" w="9525">
            <a:solidFill>
              <a:srgbClr val="D8C5A4"/>
            </a:solidFill>
            <a:prstDash val="solid"/>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lnSpc>
                <a:spcPct val="112000"/>
              </a:lnSpc>
              <a:buNone/>
              <a:defRPr sz="1650" b="1" i="0">
                <a:solidFill>
                  <a:srgbClr val="6A1F2C"/>
                </a:solidFill>
                <a:latin typeface="DejaVu Sans"/>
                <a:ea typeface="DejaVu Sans"/>
                <a:cs typeface="DejaVu Sans"/>
              </a:defRPr>
            </a:pPr>
            <a:r>
              <a:rPr sz="1650" b="1" i="0">
                <a:solidFill>
                  <a:srgbClr val="6A1F2C"/>
                </a:solidFill>
                <a:latin typeface="DejaVu Sans"/>
                <a:ea typeface="DejaVu Sans"/>
                <a:cs typeface="DejaVu Sans"/>
              </a:rPr>
              <a:t>Python 3.12  |  NumPy  |  pandas  |  Matplotlib  |  pytest</a:t>
            </a:r>
          </a:p>
        </p:txBody>
      </p:sp>
      <p:sp>
        <p:nvSpPr>
          <p:cNvPr id="44" name="strategy-figure-heading">
            <a:extLst xmlns:a="http://schemas.openxmlformats.org/drawingml/2006/main">
              <a:ext uri="{FF2B5EF4-FFF2-40B4-BE49-F238E27FC236}">
                <a16:creationId xmlns:a16="http://schemas.microsoft.com/office/drawing/2014/main" id="{4613C0D4-A741-4B3A-9C2B-D4EB82D0DA2B}"/>
              </a:ext>
            </a:extLst>
          </p:cNvPr>
          <p:cNvSpPr>
            <a:spLocks xmlns:a="http://schemas.openxmlformats.org/drawingml/2006/main" noGrp="1"/>
          </p:cNvSpPr>
          <p:nvPr/>
        </p:nvSpPr>
        <p:spPr>
          <a:xfrm xmlns:a="http://schemas.openxmlformats.org/drawingml/2006/main">
            <a:off x="10763250" y="49149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950" b="1" i="0">
                <a:solidFill>
                  <a:srgbClr val="6A1F2C"/>
                </a:solidFill>
                <a:latin typeface="DejaVu Serif"/>
                <a:ea typeface="DejaVu Serif"/>
                <a:cs typeface="DejaVu Serif"/>
              </a:defRPr>
            </a:pPr>
            <a:r>
              <a:rPr sz="1950" b="1" i="0">
                <a:solidFill>
                  <a:srgbClr val="6A1F2C"/>
                </a:solidFill>
                <a:latin typeface="DejaVu Serif"/>
                <a:ea typeface="DejaVu Serif"/>
                <a:cs typeface="DejaVu Serif"/>
              </a:rPr>
              <a:t>Figure 1. Average result per hand—closer to zero is better</a:t>
            </a:r>
          </a:p>
        </p:txBody>
      </p:sp>
      <p:sp>
        <p:nvSpPr>
          <p:cNvPr id="45" name="strategy-figure-heading-rule">
            <a:extLst xmlns:a="http://schemas.openxmlformats.org/drawingml/2006/main">
              <a:ext uri="{FF2B5EF4-FFF2-40B4-BE49-F238E27FC236}">
                <a16:creationId xmlns:a16="http://schemas.microsoft.com/office/drawing/2014/main" id="{F7A16B26-9E53-470E-AC93-7C416FBDD3BB}"/>
              </a:ext>
            </a:extLst>
          </p:cNvPr>
          <p:cNvSpPr>
            <a:spLocks xmlns:a="http://schemas.openxmlformats.org/drawingml/2006/main" noGrp="1"/>
          </p:cNvSpPr>
          <p:nvPr/>
        </p:nvSpPr>
        <p:spPr>
          <a:xfrm xmlns:a="http://schemas.openxmlformats.org/drawingml/2006/main">
            <a:off x="10763250" y="53911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46" name="strategy-figure-heading-accent">
            <a:extLst xmlns:a="http://schemas.openxmlformats.org/drawingml/2006/main">
              <a:ext uri="{FF2B5EF4-FFF2-40B4-BE49-F238E27FC236}">
                <a16:creationId xmlns:a16="http://schemas.microsoft.com/office/drawing/2014/main" id="{85A48DD6-BF19-4E7D-B600-897C354F2BB1}"/>
              </a:ext>
            </a:extLst>
          </p:cNvPr>
          <p:cNvSpPr>
            <a:spLocks xmlns:a="http://schemas.openxmlformats.org/drawingml/2006/main" noGrp="1"/>
          </p:cNvSpPr>
          <p:nvPr/>
        </p:nvSpPr>
        <p:spPr>
          <a:xfrm xmlns:a="http://schemas.openxmlformats.org/drawingml/2006/main">
            <a:off x="10763250" y="53911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47" name="strategy-figure-frame">
            <a:extLst xmlns:a="http://schemas.openxmlformats.org/drawingml/2006/main">
              <a:ext uri="{FF2B5EF4-FFF2-40B4-BE49-F238E27FC236}">
                <a16:creationId xmlns:a16="http://schemas.microsoft.com/office/drawing/2014/main" id="{E12B834A-6EBE-458B-92F3-B336D5C2EF3A}"/>
              </a:ext>
            </a:extLst>
          </p:cNvPr>
          <p:cNvSpPr>
            <a:spLocks xmlns:a="http://schemas.openxmlformats.org/drawingml/2006/main" noGrp="1"/>
          </p:cNvSpPr>
          <p:nvPr/>
        </p:nvSpPr>
        <p:spPr>
          <a:xfrm xmlns:a="http://schemas.openxmlformats.org/drawingml/2006/main">
            <a:off x="10763250" y="5562600"/>
            <a:ext cx="8743950" cy="8096250"/>
          </a:xfrm>
          <a:prstGeom xmlns:a="http://schemas.openxmlformats.org/drawingml/2006/main" prst="roundRect">
            <a:avLst>
              <a:gd name="adj" fmla="val 2588"/>
            </a:avLst>
          </a:prstGeom>
          <a:solidFill xmlns:a="http://schemas.openxmlformats.org/drawingml/2006/main">
            <a:srgbClr val="FFFFFF"/>
          </a:solidFill>
          <a:ln xmlns:a="http://schemas.openxmlformats.org/drawingml/2006/main" w="19050">
            <a:solidFill>
              <a:srgbClr val="D8C5A4"/>
            </a:solidFill>
            <a:prstDash val="solid"/>
          </a:ln>
        </p:spPr>
      </p:sp>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d52fef2277f1427a"/>
          <a:stretch xmlns:a="http://schemas.openxmlformats.org/drawingml/2006/main"/>
        </p:blipFill>
        <p:spPr>
          <a:xfrm xmlns:a="http://schemas.openxmlformats.org/drawingml/2006/main">
            <a:off x="10877550" y="6614924"/>
            <a:ext cx="8515350" cy="5982078"/>
          </a:xfrm>
          <a:prstGeom xmlns:a="http://schemas.openxmlformats.org/drawingml/2006/main" prst="rect">
            <a:avLst/>
          </a:prstGeom>
        </p:spPr>
      </p:pic>
      <p:sp>
        <p:nvSpPr>
          <p:cNvPr id="49" name="strategy-figure-caption">
            <a:extLst xmlns:a="http://schemas.openxmlformats.org/drawingml/2006/main">
              <a:ext uri="{FF2B5EF4-FFF2-40B4-BE49-F238E27FC236}">
                <a16:creationId xmlns:a16="http://schemas.microsoft.com/office/drawing/2014/main" id="{DCA784F5-DF38-4EDF-B2BD-8408C4F5BD63}"/>
              </a:ext>
            </a:extLst>
          </p:cNvPr>
          <p:cNvSpPr>
            <a:spLocks xmlns:a="http://schemas.openxmlformats.org/drawingml/2006/main" noGrp="1"/>
          </p:cNvSpPr>
          <p:nvPr/>
        </p:nvSpPr>
        <p:spPr>
          <a:xfrm xmlns:a="http://schemas.openxmlformats.org/drawingml/2006/main">
            <a:off x="11029950" y="13754100"/>
            <a:ext cx="8210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1575" b="0" i="1">
                <a:solidFill>
                  <a:srgbClr val="6D5E51"/>
                </a:solidFill>
                <a:latin typeface="DejaVu Sans"/>
                <a:ea typeface="DejaVu Sans"/>
                <a:cs typeface="DejaVu Sans"/>
              </a:defRPr>
            </a:pPr>
            <a:r>
              <a:rPr sz="1575" b="0" i="1">
                <a:solidFill>
                  <a:srgbClr val="6D5E51"/>
                </a:solidFill>
                <a:latin typeface="DejaVu Sans"/>
                <a:ea typeface="DejaVu Sans"/>
                <a:cs typeface="DejaVu Sans"/>
              </a:rPr>
              <a:t>Zero means break-even. A negative value means an expected loss. All three ranges are below zero, but basic strategy is much closer to break-even.</a:t>
            </a:r>
          </a:p>
        </p:txBody>
      </p:sp>
      <p:sp>
        <p:nvSpPr>
          <p:cNvPr id="50" name="revised-key-result-strip">
            <a:extLst xmlns:a="http://schemas.openxmlformats.org/drawingml/2006/main">
              <a:ext uri="{FF2B5EF4-FFF2-40B4-BE49-F238E27FC236}">
                <a16:creationId xmlns:a16="http://schemas.microsoft.com/office/drawing/2014/main" id="{DF27F415-1E6F-47B1-BD58-085CDF0891DA}"/>
              </a:ext>
            </a:extLst>
          </p:cNvPr>
          <p:cNvSpPr>
            <a:spLocks xmlns:a="http://schemas.openxmlformats.org/drawingml/2006/main" noGrp="1"/>
          </p:cNvSpPr>
          <p:nvPr/>
        </p:nvSpPr>
        <p:spPr>
          <a:xfrm xmlns:a="http://schemas.openxmlformats.org/drawingml/2006/main">
            <a:off x="10763250" y="14668500"/>
            <a:ext cx="8743950" cy="2095500"/>
          </a:xfrm>
          <a:prstGeom xmlns:a="http://schemas.openxmlformats.org/drawingml/2006/main" prst="roundRect">
            <a:avLst>
              <a:gd name="adj" fmla="val 10000"/>
            </a:avLst>
          </a:prstGeom>
          <a:solidFill xmlns:a="http://schemas.openxmlformats.org/drawingml/2006/main">
            <a:srgbClr val="7A2130"/>
          </a:solidFill>
          <a:ln xmlns:a="http://schemas.openxmlformats.org/drawingml/2006/main" w="9525">
            <a:solidFill>
              <a:srgbClr val="7A2130"/>
            </a:solidFill>
            <a:prstDash val="solid"/>
          </a:ln>
        </p:spPr>
        <p:txBody>
          <a:bodyPr xmlns:a="http://schemas.openxmlformats.org/drawingml/2006/main" lIns="266700" tIns="209550" rIns="266700" bIns="209550" anchor="ctr">
            <a:noAutofit/>
          </a:bodyPr>
          <a:lstStyle xmlns:a="http://schemas.openxmlformats.org/drawingml/2006/main"/>
          <a:p xmlns:a="http://schemas.openxmlformats.org/drawingml/2006/main">
            <a:pPr algn="ctr">
              <a:lnSpc>
                <a:spcPct val="108000"/>
              </a:lnSpc>
              <a:buNone/>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Per 100 one-unit hands, naive play loses about 5.48 units; basic strategy loses about 1.53. Basic play saves about 3.94 units.</a:t>
            </a:r>
          </a:p>
        </p:txBody>
      </p:sp>
      <p:sp>
        <p:nvSpPr>
          <p:cNvPr id="51" name="strategy-table-a-heading">
            <a:extLst xmlns:a="http://schemas.openxmlformats.org/drawingml/2006/main">
              <a:ext uri="{FF2B5EF4-FFF2-40B4-BE49-F238E27FC236}">
                <a16:creationId xmlns:a16="http://schemas.microsoft.com/office/drawing/2014/main" id="{F7D3126E-D49D-46FB-B27D-94CA896A7117}"/>
              </a:ext>
            </a:extLst>
          </p:cNvPr>
          <p:cNvSpPr>
            <a:spLocks xmlns:a="http://schemas.openxmlformats.org/drawingml/2006/main" noGrp="1"/>
          </p:cNvSpPr>
          <p:nvPr/>
        </p:nvSpPr>
        <p:spPr>
          <a:xfrm xmlns:a="http://schemas.openxmlformats.org/drawingml/2006/main">
            <a:off x="10763250" y="171450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175" b="1" i="0">
                <a:solidFill>
                  <a:srgbClr val="6A1F2C"/>
                </a:solidFill>
                <a:latin typeface="DejaVu Serif"/>
                <a:ea typeface="DejaVu Serif"/>
                <a:cs typeface="DejaVu Serif"/>
              </a:defRPr>
            </a:pPr>
            <a:r>
              <a:rPr sz="2175" b="1" i="0">
                <a:solidFill>
                  <a:srgbClr val="6A1F2C"/>
                </a:solidFill>
                <a:latin typeface="DejaVu Serif"/>
                <a:ea typeface="DejaVu Serif"/>
                <a:cs typeface="DejaVu Serif"/>
              </a:rPr>
              <a:t>Table 1A. What happened in the 100,000 hands?</a:t>
            </a:r>
          </a:p>
        </p:txBody>
      </p:sp>
      <p:sp>
        <p:nvSpPr>
          <p:cNvPr id="52" name="strategy-table-a-heading-rule">
            <a:extLst xmlns:a="http://schemas.openxmlformats.org/drawingml/2006/main">
              <a:ext uri="{FF2B5EF4-FFF2-40B4-BE49-F238E27FC236}">
                <a16:creationId xmlns:a16="http://schemas.microsoft.com/office/drawing/2014/main" id="{B4940BDC-40E6-45FB-A7EC-DB5B4C55EB91}"/>
              </a:ext>
            </a:extLst>
          </p:cNvPr>
          <p:cNvSpPr>
            <a:spLocks xmlns:a="http://schemas.openxmlformats.org/drawingml/2006/main" noGrp="1"/>
          </p:cNvSpPr>
          <p:nvPr/>
        </p:nvSpPr>
        <p:spPr>
          <a:xfrm xmlns:a="http://schemas.openxmlformats.org/drawingml/2006/main">
            <a:off x="10763250" y="176212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53" name="strategy-table-a-heading-accent">
            <a:extLst xmlns:a="http://schemas.openxmlformats.org/drawingml/2006/main">
              <a:ext uri="{FF2B5EF4-FFF2-40B4-BE49-F238E27FC236}">
                <a16:creationId xmlns:a16="http://schemas.microsoft.com/office/drawing/2014/main" id="{5F73FE8B-4951-413F-8FA2-1495618F839D}"/>
              </a:ext>
            </a:extLst>
          </p:cNvPr>
          <p:cNvSpPr>
            <a:spLocks xmlns:a="http://schemas.openxmlformats.org/drawingml/2006/main" noGrp="1"/>
          </p:cNvSpPr>
          <p:nvPr/>
        </p:nvSpPr>
        <p:spPr>
          <a:xfrm xmlns:a="http://schemas.openxmlformats.org/drawingml/2006/main">
            <a:off x="10763250" y="176212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graphicFrame>
        <p:nvGraphicFramePr>
          <p:cNvPr id="148" name=""/>
          <p:cNvGraphicFramePr/>
          <p:nvPr/>
        </p:nvGraphicFramePr>
        <p:xfrm>
          <a:off xmlns:a="http://schemas.openxmlformats.org/drawingml/2006/main" x="10763250" y="17792700"/>
          <a:ext xmlns:a="http://schemas.openxmlformats.org/drawingml/2006/main" cx="8743950" cy="5334000"/>
        </p:xfrm>
        <a:graphic xmlns:a="http://schemas.openxmlformats.org/drawingml/2006/main">
          <a:graphicData uri="http://schemas.openxmlformats.org/drawingml/2006/table">
            <a:tbl>
              <a:tblPr firstRow="1" firstCol="1" bandRow="1"/>
              <a:tblGrid>
                <a:gridCol w="1824277"/>
                <a:gridCol w="1321028"/>
                <a:gridCol w="1132310"/>
                <a:gridCol w="1132310"/>
                <a:gridCol w="1132310"/>
                <a:gridCol w="1069404"/>
                <a:gridCol w="1132310"/>
              </a:tblGrid>
              <a:tr h="1333500">
                <a:tc>
                  <a:txBody>
                    <a:bodyPr/>
                    <a:lstStyle/>
                    <a:p>
                      <a:pPr algn="l"/>
                      <a:r>
                        <a:rPr sz="1350" b="1">
                          <a:solidFill>
                            <a:srgbClr val="FFFFFF"/>
                          </a:solidFill>
                          <a:latin typeface="DejaVu Sans"/>
                          <a:ea typeface="DejaVu Sans"/>
                          <a:cs typeface="DejaVu Sans"/>
                        </a:rPr>
                        <a:t>Strategy</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Rounds</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Win %</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Loss %</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Push %</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BJ %</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Bust %</a:t>
                      </a:r>
                    </a:p>
                  </a:txBody>
                  <a:tcPr marL="91440" marR="91440" marT="45720" marB="45720" anchor="ctr">
                    <a:solidFill>
                      <a:srgbClr val="6A1F2C"/>
                    </a:solidFill>
                  </a:tcPr>
                </a:tc>
              </a:tr>
              <a:tr h="1333500">
                <a:tc>
                  <a:txBody>
                    <a:bodyPr/>
                    <a:lstStyle/>
                    <a:p>
                      <a:pPr algn="l"/>
                      <a:r>
                        <a:rPr sz="1350" b="1">
                          <a:solidFill>
                            <a:srgbClr val="2B241F"/>
                          </a:solidFill>
                          <a:latin typeface="DejaVu Sans"/>
                          <a:ea typeface="DejaVu Sans"/>
                          <a:cs typeface="DejaVu Sans"/>
                        </a:rPr>
                        <a:t>Naive</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100,000</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41.366</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49.221</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9.413</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4.922</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27.040</a:t>
                      </a:r>
                    </a:p>
                  </a:txBody>
                  <a:tcPr marL="91440" marR="91440" marT="45720" marB="45720" anchor="ctr">
                    <a:solidFill>
                      <a:srgbClr val="FFFFFF"/>
                    </a:solidFill>
                  </a:tcPr>
                </a:tc>
              </a:tr>
              <a:tr h="1333500">
                <a:tc>
                  <a:txBody>
                    <a:bodyPr/>
                    <a:lstStyle/>
                    <a:p>
                      <a:pPr algn="l"/>
                      <a:r>
                        <a:rPr sz="1350" b="1">
                          <a:solidFill>
                            <a:srgbClr val="2B241F"/>
                          </a:solidFill>
                          <a:latin typeface="DejaVu Sans"/>
                          <a:ea typeface="DejaVu Sans"/>
                          <a:cs typeface="DejaVu Sans"/>
                        </a:rPr>
                        <a:t>Dealer-like</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100,000</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41.553</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49.139</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9.308</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4.922</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27.424</a:t>
                      </a:r>
                    </a:p>
                  </a:txBody>
                  <a:tcPr marL="91440" marR="91440" marT="45720" marB="45720" anchor="ctr">
                    <a:solidFill>
                      <a:srgbClr val="F5E7CE"/>
                    </a:solidFill>
                  </a:tcPr>
                </a:tc>
              </a:tr>
              <a:tr h="1333500">
                <a:tc>
                  <a:txBody>
                    <a:bodyPr/>
                    <a:lstStyle/>
                    <a:p>
                      <a:pPr algn="l"/>
                      <a:r>
                        <a:rPr sz="1350" b="1">
                          <a:solidFill>
                            <a:srgbClr val="2B241F"/>
                          </a:solidFill>
                          <a:latin typeface="DejaVu Sans"/>
                          <a:ea typeface="DejaVu Sans"/>
                          <a:cs typeface="DejaVu Sans"/>
                        </a:rPr>
                        <a:t>Basic</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100,000</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43.840</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47.752</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8.408</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4.922</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16.913</a:t>
                      </a:r>
                    </a:p>
                  </a:txBody>
                  <a:tcPr marL="91440" marR="91440" marT="45720" marB="45720" anchor="ctr">
                    <a:solidFill>
                      <a:srgbClr val="F3E3BF"/>
                    </a:solidFill>
                  </a:tcPr>
                </a:tc>
              </a:tr>
            </a:tbl>
          </a:graphicData>
        </a:graphic>
      </p:graphicFrame>
      <p:sp>
        <p:nvSpPr>
          <p:cNvPr id="55" name="strategy-table-b-heading">
            <a:extLst xmlns:a="http://schemas.openxmlformats.org/drawingml/2006/main">
              <a:ext uri="{FF2B5EF4-FFF2-40B4-BE49-F238E27FC236}">
                <a16:creationId xmlns:a16="http://schemas.microsoft.com/office/drawing/2014/main" id="{36074622-69B5-4109-84DB-24D49C70B699}"/>
              </a:ext>
            </a:extLst>
          </p:cNvPr>
          <p:cNvSpPr>
            <a:spLocks xmlns:a="http://schemas.openxmlformats.org/drawingml/2006/main" noGrp="1"/>
          </p:cNvSpPr>
          <p:nvPr/>
        </p:nvSpPr>
        <p:spPr>
          <a:xfrm xmlns:a="http://schemas.openxmlformats.org/drawingml/2006/main">
            <a:off x="10763250" y="2352675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025" b="1" i="0">
                <a:solidFill>
                  <a:srgbClr val="6A1F2C"/>
                </a:solidFill>
                <a:latin typeface="DejaVu Serif"/>
                <a:ea typeface="DejaVu Serif"/>
                <a:cs typeface="DejaVu Serif"/>
              </a:defRPr>
            </a:pPr>
            <a:r>
              <a:rPr sz="2025" b="1" i="0">
                <a:solidFill>
                  <a:srgbClr val="6A1F2C"/>
                </a:solidFill>
                <a:latin typeface="DejaVu Serif"/>
                <a:ea typeface="DejaVu Serif"/>
                <a:cs typeface="DejaVu Serif"/>
              </a:rPr>
              <a:t>Table 1B. Average return and uncertainty (1 unit staked)</a:t>
            </a:r>
          </a:p>
        </p:txBody>
      </p:sp>
      <p:sp>
        <p:nvSpPr>
          <p:cNvPr id="56" name="strategy-table-b-heading-rule">
            <a:extLst xmlns:a="http://schemas.openxmlformats.org/drawingml/2006/main">
              <a:ext uri="{FF2B5EF4-FFF2-40B4-BE49-F238E27FC236}">
                <a16:creationId xmlns:a16="http://schemas.microsoft.com/office/drawing/2014/main" id="{6A16FD4C-11C9-4A9D-A515-E8035F97766C}"/>
              </a:ext>
            </a:extLst>
          </p:cNvPr>
          <p:cNvSpPr>
            <a:spLocks xmlns:a="http://schemas.openxmlformats.org/drawingml/2006/main" noGrp="1"/>
          </p:cNvSpPr>
          <p:nvPr/>
        </p:nvSpPr>
        <p:spPr>
          <a:xfrm xmlns:a="http://schemas.openxmlformats.org/drawingml/2006/main">
            <a:off x="10763250" y="2400300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57" name="strategy-table-b-heading-accent">
            <a:extLst xmlns:a="http://schemas.openxmlformats.org/drawingml/2006/main">
              <a:ext uri="{FF2B5EF4-FFF2-40B4-BE49-F238E27FC236}">
                <a16:creationId xmlns:a16="http://schemas.microsoft.com/office/drawing/2014/main" id="{E94E8337-DDD7-4877-9155-C71CBBE552B1}"/>
              </a:ext>
            </a:extLst>
          </p:cNvPr>
          <p:cNvSpPr>
            <a:spLocks xmlns:a="http://schemas.openxmlformats.org/drawingml/2006/main" noGrp="1"/>
          </p:cNvSpPr>
          <p:nvPr/>
        </p:nvSpPr>
        <p:spPr>
          <a:xfrm xmlns:a="http://schemas.openxmlformats.org/drawingml/2006/main">
            <a:off x="10763250" y="2400300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graphicFrame>
        <p:nvGraphicFramePr>
          <p:cNvPr id="152" name=""/>
          <p:cNvGraphicFramePr/>
          <p:nvPr/>
        </p:nvGraphicFramePr>
        <p:xfrm>
          <a:off xmlns:a="http://schemas.openxmlformats.org/drawingml/2006/main" x="10763250" y="24174450"/>
          <a:ext xmlns:a="http://schemas.openxmlformats.org/drawingml/2006/main" cx="8743950" cy="5334000"/>
        </p:xfrm>
        <a:graphic xmlns:a="http://schemas.openxmlformats.org/drawingml/2006/main">
          <a:graphicData uri="http://schemas.openxmlformats.org/drawingml/2006/table">
            <a:tbl>
              <a:tblPr firstRow="1" firstCol="1" bandRow="1"/>
              <a:tblGrid>
                <a:gridCol w="1811247"/>
                <a:gridCol w="1249136"/>
                <a:gridCol w="1311593"/>
                <a:gridCol w="1249136"/>
                <a:gridCol w="1561420"/>
                <a:gridCol w="1561420"/>
              </a:tblGrid>
              <a:tr h="1333500">
                <a:tc>
                  <a:txBody>
                    <a:bodyPr/>
                    <a:lstStyle/>
                    <a:p>
                      <a:pPr algn="l"/>
                      <a:r>
                        <a:rPr sz="1350" b="1">
                          <a:solidFill>
                            <a:srgbClr val="FFFFFF"/>
                          </a:solidFill>
                          <a:latin typeface="DejaVu Sans"/>
                          <a:ea typeface="DejaVu Sans"/>
                          <a:cs typeface="DejaVu Sans"/>
                        </a:rPr>
                        <a:t>Strategy</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EV</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House edge %</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SE</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CI low</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CI high</a:t>
                      </a:r>
                    </a:p>
                  </a:txBody>
                  <a:tcPr marL="91440" marR="91440" marT="45720" marB="45720" anchor="ctr">
                    <a:solidFill>
                      <a:srgbClr val="6A1F2C"/>
                    </a:solidFill>
                  </a:tcPr>
                </a:tc>
              </a:tr>
              <a:tr h="1333500">
                <a:tc>
                  <a:txBody>
                    <a:bodyPr/>
                    <a:lstStyle/>
                    <a:p>
                      <a:pPr algn="l"/>
                      <a:r>
                        <a:rPr sz="1350" b="1">
                          <a:solidFill>
                            <a:srgbClr val="2B241F"/>
                          </a:solidFill>
                          <a:latin typeface="DejaVu Sans"/>
                          <a:ea typeface="DejaVu Sans"/>
                          <a:cs typeface="DejaVu Sans"/>
                        </a:rPr>
                        <a:t>Naive</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-0.054755</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5.4755</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0.003102</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-0.060835</a:t>
                      </a:r>
                    </a:p>
                  </a:txBody>
                  <a:tcPr marL="91440" marR="91440" marT="45720" marB="45720" anchor="ctr">
                    <a:solidFill>
                      <a:srgbClr val="FFFFFF"/>
                    </a:solidFill>
                  </a:tcPr>
                </a:tc>
                <a:tc>
                  <a:txBody>
                    <a:bodyPr/>
                    <a:lstStyle/>
                    <a:p>
                      <a:pPr algn="ctr"/>
                      <a:r>
                        <a:rPr sz="1350" b="0">
                          <a:solidFill>
                            <a:srgbClr val="2B241F"/>
                          </a:solidFill>
                          <a:latin typeface="DejaVu Sans"/>
                          <a:ea typeface="DejaVu Sans"/>
                          <a:cs typeface="DejaVu Sans"/>
                        </a:rPr>
                        <a:t>-0.048675</a:t>
                      </a:r>
                    </a:p>
                  </a:txBody>
                  <a:tcPr marL="91440" marR="91440" marT="45720" marB="45720" anchor="ctr">
                    <a:solidFill>
                      <a:srgbClr val="FFFFFF"/>
                    </a:solidFill>
                  </a:tcPr>
                </a:tc>
              </a:tr>
              <a:tr h="1333500">
                <a:tc>
                  <a:txBody>
                    <a:bodyPr/>
                    <a:lstStyle/>
                    <a:p>
                      <a:pPr algn="l"/>
                      <a:r>
                        <a:rPr sz="1350" b="1">
                          <a:solidFill>
                            <a:srgbClr val="2B241F"/>
                          </a:solidFill>
                          <a:latin typeface="DejaVu Sans"/>
                          <a:ea typeface="DejaVu Sans"/>
                          <a:cs typeface="DejaVu Sans"/>
                        </a:rPr>
                        <a:t>Dealer-like</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-0.052065</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5.2065</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0.003104</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-0.058150</a:t>
                      </a:r>
                    </a:p>
                  </a:txBody>
                  <a:tcPr marL="91440" marR="91440" marT="45720" marB="45720" anchor="ctr">
                    <a:solidFill>
                      <a:srgbClr val="F5E7CE"/>
                    </a:solidFill>
                  </a:tcPr>
                </a:tc>
                <a:tc>
                  <a:txBody>
                    <a:bodyPr/>
                    <a:lstStyle/>
                    <a:p>
                      <a:pPr algn="ctr"/>
                      <a:r>
                        <a:rPr sz="1350" b="0">
                          <a:solidFill>
                            <a:srgbClr val="2B241F"/>
                          </a:solidFill>
                          <a:latin typeface="DejaVu Sans"/>
                          <a:ea typeface="DejaVu Sans"/>
                          <a:cs typeface="DejaVu Sans"/>
                        </a:rPr>
                        <a:t>-0.045980</a:t>
                      </a:r>
                    </a:p>
                  </a:txBody>
                  <a:tcPr marL="91440" marR="91440" marT="45720" marB="45720" anchor="ctr">
                    <a:solidFill>
                      <a:srgbClr val="F5E7CE"/>
                    </a:solidFill>
                  </a:tcPr>
                </a:tc>
              </a:tr>
              <a:tr h="1333500">
                <a:tc>
                  <a:txBody>
                    <a:bodyPr/>
                    <a:lstStyle/>
                    <a:p>
                      <a:pPr algn="l"/>
                      <a:r>
                        <a:rPr sz="1350" b="1">
                          <a:solidFill>
                            <a:srgbClr val="2B241F"/>
                          </a:solidFill>
                          <a:latin typeface="DejaVu Sans"/>
                          <a:ea typeface="DejaVu Sans"/>
                          <a:cs typeface="DejaVu Sans"/>
                        </a:rPr>
                        <a:t>Basic</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-0.015325</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1.5325</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0.003123</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-0.021446</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-0.009204</a:t>
                      </a:r>
                    </a:p>
                  </a:txBody>
                  <a:tcPr marL="91440" marR="91440" marT="45720" marB="45720" anchor="ctr">
                    <a:solidFill>
                      <a:srgbClr val="F3E3BF"/>
                    </a:solidFill>
                  </a:tcPr>
                </a:tc>
              </a:tr>
            </a:tbl>
          </a:graphicData>
        </a:graphic>
      </p:graphicFrame>
      <p:sp>
        <p:nvSpPr>
          <p:cNvPr id="59" name="revised-interpretation-heading">
            <a:extLst xmlns:a="http://schemas.openxmlformats.org/drawingml/2006/main">
              <a:ext uri="{FF2B5EF4-FFF2-40B4-BE49-F238E27FC236}">
                <a16:creationId xmlns:a16="http://schemas.microsoft.com/office/drawing/2014/main" id="{F530D053-E7C9-4ED5-8869-B51AC7B6D9A8}"/>
              </a:ext>
            </a:extLst>
          </p:cNvPr>
          <p:cNvSpPr>
            <a:spLocks xmlns:a="http://schemas.openxmlformats.org/drawingml/2006/main" noGrp="1"/>
          </p:cNvSpPr>
          <p:nvPr/>
        </p:nvSpPr>
        <p:spPr>
          <a:xfrm xmlns:a="http://schemas.openxmlformats.org/drawingml/2006/main">
            <a:off x="10763250" y="299085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400" b="1" i="0">
                <a:solidFill>
                  <a:srgbClr val="6A1F2C"/>
                </a:solidFill>
                <a:latin typeface="DejaVu Serif"/>
                <a:ea typeface="DejaVu Serif"/>
                <a:cs typeface="DejaVu Serif"/>
              </a:defRPr>
            </a:pPr>
            <a:r>
              <a:rPr sz="2400" b="1" i="0">
                <a:solidFill>
                  <a:srgbClr val="6A1F2C"/>
                </a:solidFill>
                <a:latin typeface="DejaVu Serif"/>
                <a:ea typeface="DejaVu Serif"/>
                <a:cs typeface="DejaVu Serif"/>
              </a:rPr>
              <a:t>What do the numbers say?</a:t>
            </a:r>
          </a:p>
        </p:txBody>
      </p:sp>
      <p:sp>
        <p:nvSpPr>
          <p:cNvPr id="60" name="revised-interpretation-heading-rule">
            <a:extLst xmlns:a="http://schemas.openxmlformats.org/drawingml/2006/main">
              <a:ext uri="{FF2B5EF4-FFF2-40B4-BE49-F238E27FC236}">
                <a16:creationId xmlns:a16="http://schemas.microsoft.com/office/drawing/2014/main" id="{5259F9B8-3731-4133-94EB-1D0F6B4B4A21}"/>
              </a:ext>
            </a:extLst>
          </p:cNvPr>
          <p:cNvSpPr>
            <a:spLocks xmlns:a="http://schemas.openxmlformats.org/drawingml/2006/main" noGrp="1"/>
          </p:cNvSpPr>
          <p:nvPr/>
        </p:nvSpPr>
        <p:spPr>
          <a:xfrm xmlns:a="http://schemas.openxmlformats.org/drawingml/2006/main">
            <a:off x="10763250" y="303847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61" name="revised-interpretation-heading-accent">
            <a:extLst xmlns:a="http://schemas.openxmlformats.org/drawingml/2006/main">
              <a:ext uri="{FF2B5EF4-FFF2-40B4-BE49-F238E27FC236}">
                <a16:creationId xmlns:a16="http://schemas.microsoft.com/office/drawing/2014/main" id="{753EF80F-82E3-4668-B79D-FF49D3260CE6}"/>
              </a:ext>
            </a:extLst>
          </p:cNvPr>
          <p:cNvSpPr>
            <a:spLocks xmlns:a="http://schemas.openxmlformats.org/drawingml/2006/main" noGrp="1"/>
          </p:cNvSpPr>
          <p:nvPr/>
        </p:nvSpPr>
        <p:spPr>
          <a:xfrm xmlns:a="http://schemas.openxmlformats.org/drawingml/2006/main">
            <a:off x="10763250" y="303847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62" name="revised-interpretation-bullets">
            <a:extLst xmlns:a="http://schemas.openxmlformats.org/drawingml/2006/main">
              <a:ext uri="{FF2B5EF4-FFF2-40B4-BE49-F238E27FC236}">
                <a16:creationId xmlns:a16="http://schemas.microsoft.com/office/drawing/2014/main" id="{3840E7B0-1E1F-4538-AE68-B95304C60DC9}"/>
              </a:ext>
            </a:extLst>
          </p:cNvPr>
          <p:cNvSpPr>
            <a:spLocks xmlns:a="http://schemas.openxmlformats.org/drawingml/2006/main" noGrp="1"/>
          </p:cNvSpPr>
          <p:nvPr/>
        </p:nvSpPr>
        <p:spPr>
          <a:xfrm xmlns:a="http://schemas.openxmlformats.org/drawingml/2006/main">
            <a:off x="10763250" y="30556200"/>
            <a:ext cx="87439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32" indent="-18" algn="l">
              <a:lnSpc>
                <a:spcPct val="108000"/>
              </a:lnSpc>
              <a:spcAft>
                <a:spcPts val="12"/>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More information helps:</a:t>
            </a:r>
            <a:r>
              <a:rPr sz="1650">
                <a:solidFill>
                  <a:srgbClr val="2B241F"/>
                </a:solidFill>
                <a:latin typeface="DejaVu Sans"/>
                <a:ea typeface="DejaVu Sans"/>
                <a:cs typeface="DejaVu Sans"/>
              </a:rPr>
              <a:t> basic play reacts to the hand type and the dealer's visible card.</a:t>
            </a:r>
          </a:p>
          <a:p xmlns:a="http://schemas.openxmlformats.org/drawingml/2006/main">
            <a:pPr marL="32" indent="-18" algn="l">
              <a:lnSpc>
                <a:spcPct val="108000"/>
              </a:lnSpc>
              <a:spcAft>
                <a:spcPts val="12"/>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Fewer busts:</a:t>
            </a:r>
            <a:r>
              <a:rPr sz="1650">
                <a:solidFill>
                  <a:srgbClr val="2B241F"/>
                </a:solidFill>
                <a:latin typeface="DejaVu Sans"/>
                <a:ea typeface="DejaVu Sans"/>
                <a:cs typeface="DejaVu Sans"/>
              </a:rPr>
              <a:t> the player busts in 27.040% of naive hands but only 16.913% of basic hands.</a:t>
            </a:r>
          </a:p>
          <a:p xmlns:a="http://schemas.openxmlformats.org/drawingml/2006/main">
            <a:pPr marL="32" indent="-18" algn="l">
              <a:lnSpc>
                <a:spcPct val="108000"/>
              </a:lnSpc>
              <a:spcAft>
                <a:spcPts val="12"/>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More wins:</a:t>
            </a:r>
            <a:r>
              <a:rPr sz="1650">
                <a:solidFill>
                  <a:srgbClr val="2B241F"/>
                </a:solidFill>
                <a:latin typeface="DejaVu Sans"/>
                <a:ea typeface="DejaVu Sans"/>
                <a:cs typeface="DejaVu Sans"/>
              </a:rPr>
              <a:t> basic play wins 2.474 percentage points more hands than naive play.</a:t>
            </a:r>
          </a:p>
          <a:p xmlns:a="http://schemas.openxmlformats.org/drawingml/2006/main">
            <a:pPr marL="32" indent="-18" algn="l">
              <a:lnSpc>
                <a:spcPct val="108000"/>
              </a:lnSpc>
              <a:spcAft>
                <a:spcPts val="12"/>
              </a:spcAft>
              <a:buNone/>
              <a:defRPr sz="1650">
                <a:solidFill>
                  <a:srgbClr val="2B241F"/>
                </a:solidFill>
                <a:latin typeface="DejaVu Sans"/>
                <a:ea typeface="DejaVu Sans"/>
                <a:cs typeface="DejaVu Sans"/>
              </a:defRPr>
            </a:pPr>
            <a:r>
              <a:rPr sz="1650" b="1">
                <a:solidFill>
                  <a:srgbClr val="2B241F"/>
                </a:solidFill>
                <a:latin typeface="DejaVu Sans"/>
                <a:ea typeface="DejaVu Sans"/>
                <a:cs typeface="DejaVu Sans"/>
              </a:rPr>
              <a:t>Smaller casino advantage:</a:t>
            </a:r>
            <a:r>
              <a:rPr sz="1650">
                <a:solidFill>
                  <a:srgbClr val="2B241F"/>
                </a:solidFill>
                <a:latin typeface="DejaVu Sans"/>
                <a:ea typeface="DejaVu Sans"/>
                <a:cs typeface="DejaVu Sans"/>
              </a:rPr>
              <a:t> the house edge falls from 5.4755% to 1.5325%—about 72% lower.</a:t>
            </a:r>
          </a:p>
        </p:txBody>
      </p:sp>
      <p:sp>
        <p:nvSpPr>
          <p:cNvPr id="63" name="revised-reduction-box">
            <a:extLst xmlns:a="http://schemas.openxmlformats.org/drawingml/2006/main">
              <a:ext uri="{FF2B5EF4-FFF2-40B4-BE49-F238E27FC236}">
                <a16:creationId xmlns:a16="http://schemas.microsoft.com/office/drawing/2014/main" id="{DF17C763-2370-4FBF-81DA-B20E0BC7B5DA}"/>
              </a:ext>
            </a:extLst>
          </p:cNvPr>
          <p:cNvSpPr>
            <a:spLocks xmlns:a="http://schemas.openxmlformats.org/drawingml/2006/main" noGrp="1"/>
          </p:cNvSpPr>
          <p:nvPr/>
        </p:nvSpPr>
        <p:spPr>
          <a:xfrm xmlns:a="http://schemas.openxmlformats.org/drawingml/2006/main">
            <a:off x="10763250" y="35718750"/>
            <a:ext cx="8743950" cy="4000500"/>
          </a:xfrm>
          <a:prstGeom xmlns:a="http://schemas.openxmlformats.org/drawingml/2006/main" prst="roundRect">
            <a:avLst>
              <a:gd name="adj" fmla="val 5714"/>
            </a:avLst>
          </a:prstGeom>
          <a:solidFill xmlns:a="http://schemas.openxmlformats.org/drawingml/2006/main">
            <a:srgbClr val="F5E7CE"/>
          </a:solidFill>
          <a:ln xmlns:a="http://schemas.openxmlformats.org/drawingml/2006/main" w="28575">
            <a:solidFill>
              <a:srgbClr val="C5933D"/>
            </a:solidFill>
            <a:prstDash val="solid"/>
          </a:ln>
        </p:spPr>
      </p:sp>
      <p:sp>
        <p:nvSpPr>
          <p:cNvPr id="64" name="revised-reduction-number">
            <a:extLst xmlns:a="http://schemas.openxmlformats.org/drawingml/2006/main">
              <a:ext uri="{FF2B5EF4-FFF2-40B4-BE49-F238E27FC236}">
                <a16:creationId xmlns:a16="http://schemas.microsoft.com/office/drawing/2014/main" id="{213919E2-48CF-4F9B-96AB-182E7E9446A7}"/>
              </a:ext>
            </a:extLst>
          </p:cNvPr>
          <p:cNvSpPr>
            <a:spLocks xmlns:a="http://schemas.openxmlformats.org/drawingml/2006/main" noGrp="1"/>
          </p:cNvSpPr>
          <p:nvPr/>
        </p:nvSpPr>
        <p:spPr>
          <a:xfrm xmlns:a="http://schemas.openxmlformats.org/drawingml/2006/main">
            <a:off x="11049000" y="36337875"/>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buNone/>
              <a:defRPr sz="7050" b="1" i="0">
                <a:solidFill>
                  <a:srgbClr val="7A2130"/>
                </a:solidFill>
                <a:latin typeface="DejaVu Serif"/>
                <a:ea typeface="DejaVu Serif"/>
                <a:cs typeface="DejaVu Serif"/>
              </a:defRPr>
            </a:pPr>
            <a:r>
              <a:rPr sz="7050" b="1" i="0">
                <a:solidFill>
                  <a:srgbClr val="7A2130"/>
                </a:solidFill>
                <a:latin typeface="DejaVu Serif"/>
                <a:ea typeface="DejaVu Serif"/>
                <a:cs typeface="DejaVu Serif"/>
              </a:rPr>
              <a:t>72%</a:t>
            </a:r>
          </a:p>
        </p:txBody>
      </p:sp>
      <p:sp>
        <p:nvSpPr>
          <p:cNvPr id="65" name="revised-reduction-label">
            <a:extLst xmlns:a="http://schemas.openxmlformats.org/drawingml/2006/main">
              <a:ext uri="{FF2B5EF4-FFF2-40B4-BE49-F238E27FC236}">
                <a16:creationId xmlns:a16="http://schemas.microsoft.com/office/drawing/2014/main" id="{BEFAB7D3-EC75-431D-A4CD-71716B810E65}"/>
              </a:ext>
            </a:extLst>
          </p:cNvPr>
          <p:cNvSpPr>
            <a:spLocks xmlns:a="http://schemas.openxmlformats.org/drawingml/2006/main" noGrp="1"/>
          </p:cNvSpPr>
          <p:nvPr/>
        </p:nvSpPr>
        <p:spPr>
          <a:xfrm xmlns:a="http://schemas.openxmlformats.org/drawingml/2006/main">
            <a:off x="14239875" y="36366450"/>
            <a:ext cx="49339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2175" b="1" i="0">
                <a:solidFill>
                  <a:srgbClr val="2B241F"/>
                </a:solidFill>
                <a:latin typeface="DejaVu Serif"/>
                <a:ea typeface="DejaVu Serif"/>
                <a:cs typeface="DejaVu Serif"/>
              </a:defRPr>
            </a:pPr>
            <a:r>
              <a:rPr sz="2175" b="1" i="0">
                <a:solidFill>
                  <a:srgbClr val="2B241F"/>
                </a:solidFill>
                <a:latin typeface="DejaVu Serif"/>
                <a:ea typeface="DejaVu Serif"/>
                <a:cs typeface="DejaVu Serif"/>
              </a:rPr>
              <a:t>smaller simulated casino advantage than naive play</a:t>
            </a:r>
          </a:p>
        </p:txBody>
      </p:sp>
      <p:sp>
        <p:nvSpPr>
          <p:cNvPr id="66" name="revised-reduction-note">
            <a:extLst xmlns:a="http://schemas.openxmlformats.org/drawingml/2006/main">
              <a:ext uri="{FF2B5EF4-FFF2-40B4-BE49-F238E27FC236}">
                <a16:creationId xmlns:a16="http://schemas.microsoft.com/office/drawing/2014/main" id="{F1E758C3-07F3-4A17-866C-612366FDDF8D}"/>
              </a:ext>
            </a:extLst>
          </p:cNvPr>
          <p:cNvSpPr>
            <a:spLocks xmlns:a="http://schemas.openxmlformats.org/drawingml/2006/main" noGrp="1"/>
          </p:cNvSpPr>
          <p:nvPr/>
        </p:nvSpPr>
        <p:spPr>
          <a:xfrm xmlns:a="http://schemas.openxmlformats.org/drawingml/2006/main">
            <a:off x="11191875" y="38100000"/>
            <a:ext cx="7886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1650" b="0" i="0">
                <a:solidFill>
                  <a:srgbClr val="6D5E51"/>
                </a:solidFill>
                <a:latin typeface="DejaVu Sans"/>
                <a:ea typeface="DejaVu Sans"/>
                <a:cs typeface="DejaVu Sans"/>
              </a:defRPr>
            </a:pPr>
            <a:r>
              <a:rPr sz="1650" b="0" i="0">
                <a:solidFill>
                  <a:srgbClr val="6D5E51"/>
                </a:solidFill>
                <a:latin typeface="DejaVu Sans"/>
                <a:ea typeface="DejaVu Sans"/>
                <a:cs typeface="DejaVu Sans"/>
              </a:rPr>
              <a:t>Important: losing less is not the same as making a profit. The average result is still negative.</a:t>
            </a:r>
          </a:p>
        </p:txBody>
      </p:sp>
      <p:sp>
        <p:nvSpPr>
          <p:cNvPr id="67" name="convergence-figure-heading">
            <a:extLst xmlns:a="http://schemas.openxmlformats.org/drawingml/2006/main">
              <a:ext uri="{FF2B5EF4-FFF2-40B4-BE49-F238E27FC236}">
                <a16:creationId xmlns:a16="http://schemas.microsoft.com/office/drawing/2014/main" id="{F60A4605-5DF7-48FC-9CCE-F48C5A2615F0}"/>
              </a:ext>
            </a:extLst>
          </p:cNvPr>
          <p:cNvSpPr>
            <a:spLocks xmlns:a="http://schemas.openxmlformats.org/drawingml/2006/main" noGrp="1"/>
          </p:cNvSpPr>
          <p:nvPr/>
        </p:nvSpPr>
        <p:spPr>
          <a:xfrm xmlns:a="http://schemas.openxmlformats.org/drawingml/2006/main">
            <a:off x="20535900" y="49149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100" b="1" i="0">
                <a:solidFill>
                  <a:srgbClr val="6A1F2C"/>
                </a:solidFill>
                <a:latin typeface="DejaVu Serif"/>
                <a:ea typeface="DejaVu Serif"/>
                <a:cs typeface="DejaVu Serif"/>
              </a:defRPr>
            </a:pPr>
            <a:r>
              <a:rPr sz="2100" b="1" i="0">
                <a:solidFill>
                  <a:srgbClr val="6A1F2C"/>
                </a:solidFill>
                <a:latin typeface="DejaVu Serif"/>
                <a:ea typeface="DejaVu Serif"/>
                <a:cs typeface="DejaVu Serif"/>
              </a:rPr>
              <a:t>Figure 2. More simulated hands give a steadier answer</a:t>
            </a:r>
          </a:p>
        </p:txBody>
      </p:sp>
      <p:sp>
        <p:nvSpPr>
          <p:cNvPr id="68" name="convergence-figure-heading-rule">
            <a:extLst xmlns:a="http://schemas.openxmlformats.org/drawingml/2006/main">
              <a:ext uri="{FF2B5EF4-FFF2-40B4-BE49-F238E27FC236}">
                <a16:creationId xmlns:a16="http://schemas.microsoft.com/office/drawing/2014/main" id="{0BFD1516-E48E-4AA1-B039-CFC241EDF3FC}"/>
              </a:ext>
            </a:extLst>
          </p:cNvPr>
          <p:cNvSpPr>
            <a:spLocks xmlns:a="http://schemas.openxmlformats.org/drawingml/2006/main" noGrp="1"/>
          </p:cNvSpPr>
          <p:nvPr/>
        </p:nvSpPr>
        <p:spPr>
          <a:xfrm xmlns:a="http://schemas.openxmlformats.org/drawingml/2006/main">
            <a:off x="20535900" y="53911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69" name="convergence-figure-heading-accent">
            <a:extLst xmlns:a="http://schemas.openxmlformats.org/drawingml/2006/main">
              <a:ext uri="{FF2B5EF4-FFF2-40B4-BE49-F238E27FC236}">
                <a16:creationId xmlns:a16="http://schemas.microsoft.com/office/drawing/2014/main" id="{05EEF2AF-3F6C-4190-BC3F-B1E7ECE19756}"/>
              </a:ext>
            </a:extLst>
          </p:cNvPr>
          <p:cNvSpPr>
            <a:spLocks xmlns:a="http://schemas.openxmlformats.org/drawingml/2006/main" noGrp="1"/>
          </p:cNvSpPr>
          <p:nvPr/>
        </p:nvSpPr>
        <p:spPr>
          <a:xfrm xmlns:a="http://schemas.openxmlformats.org/drawingml/2006/main">
            <a:off x="20535900" y="53911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70" name="convergence-figure-frame">
            <a:extLst xmlns:a="http://schemas.openxmlformats.org/drawingml/2006/main">
              <a:ext uri="{FF2B5EF4-FFF2-40B4-BE49-F238E27FC236}">
                <a16:creationId xmlns:a16="http://schemas.microsoft.com/office/drawing/2014/main" id="{B2F8D784-33AB-4167-9B94-21C5D6E52E72}"/>
              </a:ext>
            </a:extLst>
          </p:cNvPr>
          <p:cNvSpPr>
            <a:spLocks xmlns:a="http://schemas.openxmlformats.org/drawingml/2006/main" noGrp="1"/>
          </p:cNvSpPr>
          <p:nvPr/>
        </p:nvSpPr>
        <p:spPr>
          <a:xfrm xmlns:a="http://schemas.openxmlformats.org/drawingml/2006/main">
            <a:off x="20535900" y="5562600"/>
            <a:ext cx="8743950" cy="7810500"/>
          </a:xfrm>
          <a:prstGeom xmlns:a="http://schemas.openxmlformats.org/drawingml/2006/main" prst="roundRect">
            <a:avLst>
              <a:gd name="adj" fmla="val 2683"/>
            </a:avLst>
          </a:prstGeom>
          <a:solidFill xmlns:a="http://schemas.openxmlformats.org/drawingml/2006/main">
            <a:srgbClr val="FFFFFF"/>
          </a:solidFill>
          <a:ln xmlns:a="http://schemas.openxmlformats.org/drawingml/2006/main" w="19050">
            <a:solidFill>
              <a:srgbClr val="D8C5A4"/>
            </a:solidFill>
            <a:prstDash val="solid"/>
          </a:ln>
        </p:spPr>
      </p:sp>
      <p:pic>
        <p:nvPicPr>
          <p:cNvPr id="165" name=""/>
          <p:cNvPicPr>
            <a:picLocks xmlns:a="http://schemas.openxmlformats.org/drawingml/2006/main" noChangeAspect="1"/>
          </p:cNvPicPr>
          <p:nvPr/>
        </p:nvPicPr>
        <p:blipFill>
          <a:blip xmlns:r="http://schemas.openxmlformats.org/officeDocument/2006/relationships" xmlns:a="http://schemas.openxmlformats.org/drawingml/2006/main" r:embed="R34178136b872441f"/>
          <a:stretch xmlns:a="http://schemas.openxmlformats.org/drawingml/2006/main"/>
        </p:blipFill>
        <p:spPr>
          <a:xfrm xmlns:a="http://schemas.openxmlformats.org/drawingml/2006/main">
            <a:off x="20650200" y="6472049"/>
            <a:ext cx="8515350" cy="5982078"/>
          </a:xfrm>
          <a:prstGeom xmlns:a="http://schemas.openxmlformats.org/drawingml/2006/main" prst="rect">
            <a:avLst/>
          </a:prstGeom>
        </p:spPr>
      </p:pic>
      <p:sp>
        <p:nvSpPr>
          <p:cNvPr id="72" name="convergence-figure-caption">
            <a:extLst xmlns:a="http://schemas.openxmlformats.org/drawingml/2006/main">
              <a:ext uri="{FF2B5EF4-FFF2-40B4-BE49-F238E27FC236}">
                <a16:creationId xmlns:a16="http://schemas.microsoft.com/office/drawing/2014/main" id="{638189E4-747C-4E1F-91A4-D5A8C42A62C7}"/>
              </a:ext>
            </a:extLst>
          </p:cNvPr>
          <p:cNvSpPr>
            <a:spLocks xmlns:a="http://schemas.openxmlformats.org/drawingml/2006/main" noGrp="1"/>
          </p:cNvSpPr>
          <p:nvPr/>
        </p:nvSpPr>
        <p:spPr>
          <a:xfrm xmlns:a="http://schemas.openxmlformats.org/drawingml/2006/main">
            <a:off x="20764500" y="13506450"/>
            <a:ext cx="828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1575" b="0" i="1">
                <a:solidFill>
                  <a:srgbClr val="6D5E51"/>
                </a:solidFill>
                <a:latin typeface="DejaVu Sans"/>
                <a:ea typeface="DejaVu Sans"/>
                <a:cs typeface="DejaVu Sans"/>
              </a:defRPr>
            </a:pPr>
            <a:r>
              <a:rPr sz="1575" b="0" i="1">
                <a:solidFill>
                  <a:srgbClr val="6D5E51"/>
                </a:solidFill>
                <a:latin typeface="DejaVu Sans"/>
                <a:ea typeface="DejaVu Sans"/>
                <a:cs typeface="DejaVu Sans"/>
              </a:rPr>
              <a:t>Standard error falls from 0.03146 at 1,000 hands to 0.00442 at 50,000. In plain language, a larger simulation gives a less noisy estimate (Equation 6).</a:t>
            </a:r>
          </a:p>
        </p:txBody>
      </p:sp>
      <p:sp>
        <p:nvSpPr>
          <p:cNvPr id="73" name="convergence-table-heading">
            <a:extLst xmlns:a="http://schemas.openxmlformats.org/drawingml/2006/main">
              <a:ext uri="{FF2B5EF4-FFF2-40B4-BE49-F238E27FC236}">
                <a16:creationId xmlns:a16="http://schemas.microsoft.com/office/drawing/2014/main" id="{EE0A9A09-B563-4135-B8F2-1A3204B5C17C}"/>
              </a:ext>
            </a:extLst>
          </p:cNvPr>
          <p:cNvSpPr>
            <a:spLocks xmlns:a="http://schemas.openxmlformats.org/drawingml/2006/main" noGrp="1"/>
          </p:cNvSpPr>
          <p:nvPr/>
        </p:nvSpPr>
        <p:spPr>
          <a:xfrm xmlns:a="http://schemas.openxmlformats.org/drawingml/2006/main">
            <a:off x="20535900" y="145923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175" b="1" i="0">
                <a:solidFill>
                  <a:srgbClr val="6A1F2C"/>
                </a:solidFill>
                <a:latin typeface="DejaVu Serif"/>
                <a:ea typeface="DejaVu Serif"/>
                <a:cs typeface="DejaVu Serif"/>
              </a:defRPr>
            </a:pPr>
            <a:r>
              <a:rPr sz="2175" b="1" i="0">
                <a:solidFill>
                  <a:srgbClr val="6A1F2C"/>
                </a:solidFill>
                <a:latin typeface="DejaVu Serif"/>
                <a:ea typeface="DejaVu Serif"/>
                <a:cs typeface="DejaVu Serif"/>
              </a:rPr>
              <a:t>Table 2. The estimate becomes more precise</a:t>
            </a:r>
          </a:p>
        </p:txBody>
      </p:sp>
      <p:sp>
        <p:nvSpPr>
          <p:cNvPr id="74" name="convergence-table-heading-rule">
            <a:extLst xmlns:a="http://schemas.openxmlformats.org/drawingml/2006/main">
              <a:ext uri="{FF2B5EF4-FFF2-40B4-BE49-F238E27FC236}">
                <a16:creationId xmlns:a16="http://schemas.microsoft.com/office/drawing/2014/main" id="{2BF9A1D9-73BA-412F-A2EC-7A12E0268526}"/>
              </a:ext>
            </a:extLst>
          </p:cNvPr>
          <p:cNvSpPr>
            <a:spLocks xmlns:a="http://schemas.openxmlformats.org/drawingml/2006/main" noGrp="1"/>
          </p:cNvSpPr>
          <p:nvPr/>
        </p:nvSpPr>
        <p:spPr>
          <a:xfrm xmlns:a="http://schemas.openxmlformats.org/drawingml/2006/main">
            <a:off x="20535900" y="150685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75" name="convergence-table-heading-accent">
            <a:extLst xmlns:a="http://schemas.openxmlformats.org/drawingml/2006/main">
              <a:ext uri="{FF2B5EF4-FFF2-40B4-BE49-F238E27FC236}">
                <a16:creationId xmlns:a16="http://schemas.microsoft.com/office/drawing/2014/main" id="{5C87979A-AF0D-443F-B70E-E52D085AAE8D}"/>
              </a:ext>
            </a:extLst>
          </p:cNvPr>
          <p:cNvSpPr>
            <a:spLocks xmlns:a="http://schemas.openxmlformats.org/drawingml/2006/main" noGrp="1"/>
          </p:cNvSpPr>
          <p:nvPr/>
        </p:nvSpPr>
        <p:spPr>
          <a:xfrm xmlns:a="http://schemas.openxmlformats.org/drawingml/2006/main">
            <a:off x="20535900" y="150685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graphicFrame>
        <p:nvGraphicFramePr>
          <p:cNvPr id="170" name=""/>
          <p:cNvGraphicFramePr/>
          <p:nvPr/>
        </p:nvGraphicFramePr>
        <p:xfrm>
          <a:off xmlns:a="http://schemas.openxmlformats.org/drawingml/2006/main" x="20535900" y="15240000"/>
          <a:ext xmlns:a="http://schemas.openxmlformats.org/drawingml/2006/main" cx="8743950" cy="6667500"/>
        </p:xfrm>
        <a:graphic xmlns:a="http://schemas.openxmlformats.org/drawingml/2006/main">
          <a:graphicData uri="http://schemas.openxmlformats.org/drawingml/2006/table">
            <a:tbl>
              <a:tblPr firstRow="1" firstCol="1" bandRow="1"/>
              <a:tblGrid>
                <a:gridCol w="1239300"/>
                <a:gridCol w="1377000"/>
                <a:gridCol w="1377000"/>
                <a:gridCol w="1583550"/>
                <a:gridCol w="1583550"/>
                <a:gridCol w="1583550"/>
              </a:tblGrid>
              <a:tr h="1333500">
                <a:tc>
                  <a:txBody>
                    <a:bodyPr/>
                    <a:lstStyle/>
                    <a:p>
                      <a:pPr algn="l"/>
                      <a:r>
                        <a:rPr sz="1350" b="1">
                          <a:solidFill>
                            <a:srgbClr val="FFFFFF"/>
                          </a:solidFill>
                          <a:latin typeface="DejaVu Sans"/>
                          <a:ea typeface="DejaVu Sans"/>
                          <a:cs typeface="DejaVu Sans"/>
                        </a:rPr>
                        <a:t>Rounds</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EV</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SE</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CI low</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CI high</a:t>
                      </a:r>
                    </a:p>
                  </a:txBody>
                  <a:tcPr marL="91440" marR="91440" marT="45720" marB="45720" anchor="ctr">
                    <a:solidFill>
                      <a:srgbClr val="6A1F2C"/>
                    </a:solidFill>
                  </a:tcPr>
                </a:tc>
                <a:tc>
                  <a:txBody>
                    <a:bodyPr/>
                    <a:lstStyle/>
                    <a:p>
                      <a:pPr algn="ctr"/>
                      <a:r>
                        <a:rPr sz="1350" b="1">
                          <a:solidFill>
                            <a:srgbClr val="FFFFFF"/>
                          </a:solidFill>
                          <a:latin typeface="DejaVu Sans"/>
                          <a:ea typeface="DejaVu Sans"/>
                          <a:cs typeface="DejaVu Sans"/>
                        </a:rPr>
                        <a:t>CI width</a:t>
                      </a:r>
                    </a:p>
                  </a:txBody>
                  <a:tcPr marL="91440" marR="91440" marT="45720" marB="45720" anchor="ctr">
                    <a:solidFill>
                      <a:srgbClr val="6A1F2C"/>
                    </a:solidFill>
                  </a:tcPr>
                </a:tc>
              </a:tr>
              <a:tr h="1333500">
                <a:tc>
                  <a:txBody>
                    <a:bodyPr/>
                    <a:lstStyle/>
                    <a:p>
                      <a:pPr algn="l"/>
                      <a:r>
                        <a:rPr sz="1275" b="1">
                          <a:solidFill>
                            <a:srgbClr val="2B241F"/>
                          </a:solidFill>
                          <a:latin typeface="DejaVu Sans"/>
                          <a:ea typeface="DejaVu Sans"/>
                          <a:cs typeface="DejaVu Sans"/>
                        </a:rPr>
                        <a:t>1,000</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+0.007500</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0.031459</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-0.054160</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+0.069160</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0.123320</a:t>
                      </a:r>
                    </a:p>
                  </a:txBody>
                  <a:tcPr marL="91440" marR="91440" marT="45720" marB="45720" anchor="ctr">
                    <a:solidFill>
                      <a:srgbClr val="FFFFFF"/>
                    </a:solidFill>
                  </a:tcPr>
                </a:tc>
              </a:tr>
              <a:tr h="1333500">
                <a:tc>
                  <a:txBody>
                    <a:bodyPr/>
                    <a:lstStyle/>
                    <a:p>
                      <a:pPr algn="l"/>
                      <a:r>
                        <a:rPr sz="1275" b="1">
                          <a:solidFill>
                            <a:srgbClr val="2B241F"/>
                          </a:solidFill>
                          <a:latin typeface="DejaVu Sans"/>
                          <a:ea typeface="DejaVu Sans"/>
                          <a:cs typeface="DejaVu Sans"/>
                        </a:rPr>
                        <a:t>5,000</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-0.024500</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0.013987</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-0.051915</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+0.002915</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0.054831</a:t>
                      </a:r>
                    </a:p>
                  </a:txBody>
                  <a:tcPr marL="91440" marR="91440" marT="45720" marB="45720" anchor="ctr">
                    <a:solidFill>
                      <a:srgbClr val="F5E7CE"/>
                    </a:solidFill>
                  </a:tcPr>
                </a:tc>
              </a:tr>
              <a:tr h="1333500">
                <a:tc>
                  <a:txBody>
                    <a:bodyPr/>
                    <a:lstStyle/>
                    <a:p>
                      <a:pPr algn="l"/>
                      <a:r>
                        <a:rPr sz="1275" b="1">
                          <a:solidFill>
                            <a:srgbClr val="2B241F"/>
                          </a:solidFill>
                          <a:latin typeface="DejaVu Sans"/>
                          <a:ea typeface="DejaVu Sans"/>
                          <a:cs typeface="DejaVu Sans"/>
                        </a:rPr>
                        <a:t>10,000</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-0.027150</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0.009883</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-0.046521</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-0.007779</a:t>
                      </a:r>
                    </a:p>
                  </a:txBody>
                  <a:tcPr marL="91440" marR="91440" marT="45720" marB="45720" anchor="ctr">
                    <a:solidFill>
                      <a:srgbClr val="FFFFFF"/>
                    </a:solidFill>
                  </a:tcPr>
                </a:tc>
                <a:tc>
                  <a:txBody>
                    <a:bodyPr/>
                    <a:lstStyle/>
                    <a:p>
                      <a:pPr algn="ctr"/>
                      <a:r>
                        <a:rPr sz="1275" b="0">
                          <a:solidFill>
                            <a:srgbClr val="2B241F"/>
                          </a:solidFill>
                          <a:latin typeface="DejaVu Sans"/>
                          <a:ea typeface="DejaVu Sans"/>
                          <a:cs typeface="DejaVu Sans"/>
                        </a:rPr>
                        <a:t>0.038741</a:t>
                      </a:r>
                    </a:p>
                  </a:txBody>
                  <a:tcPr marL="91440" marR="91440" marT="45720" marB="45720" anchor="ctr">
                    <a:solidFill>
                      <a:srgbClr val="FFFFFF"/>
                    </a:solidFill>
                  </a:tcPr>
                </a:tc>
              </a:tr>
              <a:tr h="1333500">
                <a:tc>
                  <a:txBody>
                    <a:bodyPr/>
                    <a:lstStyle/>
                    <a:p>
                      <a:pPr algn="l"/>
                      <a:r>
                        <a:rPr sz="1275" b="1">
                          <a:solidFill>
                            <a:srgbClr val="2B241F"/>
                          </a:solidFill>
                          <a:latin typeface="DejaVu Sans"/>
                          <a:ea typeface="DejaVu Sans"/>
                          <a:cs typeface="DejaVu Sans"/>
                        </a:rPr>
                        <a:t>50,000</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-0.020620</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0.004419</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-0.029280</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-0.011960</a:t>
                      </a:r>
                    </a:p>
                  </a:txBody>
                  <a:tcPr marL="91440" marR="91440" marT="45720" marB="45720" anchor="ctr">
                    <a:solidFill>
                      <a:srgbClr val="F5E7CE"/>
                    </a:solidFill>
                  </a:tcPr>
                </a:tc>
                <a:tc>
                  <a:txBody>
                    <a:bodyPr/>
                    <a:lstStyle/>
                    <a:p>
                      <a:pPr algn="ctr"/>
                      <a:r>
                        <a:rPr sz="1275" b="0">
                          <a:solidFill>
                            <a:srgbClr val="2B241F"/>
                          </a:solidFill>
                          <a:latin typeface="DejaVu Sans"/>
                          <a:ea typeface="DejaVu Sans"/>
                          <a:cs typeface="DejaVu Sans"/>
                        </a:rPr>
                        <a:t>0.017321</a:t>
                      </a:r>
                    </a:p>
                  </a:txBody>
                  <a:tcPr marL="91440" marR="91440" marT="45720" marB="45720" anchor="ctr">
                    <a:solidFill>
                      <a:srgbClr val="F5E7CE"/>
                    </a:solidFill>
                  </a:tcPr>
                </a:tc>
              </a:tr>
            </a:tbl>
          </a:graphicData>
        </a:graphic>
      </p:graphicFrame>
      <p:sp>
        <p:nvSpPr>
          <p:cNvPr id="77" name="validation-table-heading">
            <a:extLst xmlns:a="http://schemas.openxmlformats.org/drawingml/2006/main">
              <a:ext uri="{FF2B5EF4-FFF2-40B4-BE49-F238E27FC236}">
                <a16:creationId xmlns:a16="http://schemas.microsoft.com/office/drawing/2014/main" id="{787ED3FA-4434-4952-B48A-B84782EBCFEC}"/>
              </a:ext>
            </a:extLst>
          </p:cNvPr>
          <p:cNvSpPr>
            <a:spLocks xmlns:a="http://schemas.openxmlformats.org/drawingml/2006/main" noGrp="1"/>
          </p:cNvSpPr>
          <p:nvPr/>
        </p:nvSpPr>
        <p:spPr>
          <a:xfrm xmlns:a="http://schemas.openxmlformats.org/drawingml/2006/main">
            <a:off x="20535900" y="2228850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175" b="1" i="0">
                <a:solidFill>
                  <a:srgbClr val="6A1F2C"/>
                </a:solidFill>
                <a:latin typeface="DejaVu Serif"/>
                <a:ea typeface="DejaVu Serif"/>
                <a:cs typeface="DejaVu Serif"/>
              </a:defRPr>
            </a:pPr>
            <a:r>
              <a:rPr sz="2175" b="1" i="0">
                <a:solidFill>
                  <a:srgbClr val="6A1F2C"/>
                </a:solidFill>
                <a:latin typeface="DejaVu Serif"/>
                <a:ea typeface="DejaVu Serif"/>
                <a:cs typeface="DejaVu Serif"/>
              </a:rPr>
              <a:t>Table 3. Does the simulator deal naturals correctly?</a:t>
            </a:r>
          </a:p>
        </p:txBody>
      </p:sp>
      <p:sp>
        <p:nvSpPr>
          <p:cNvPr id="78" name="validation-table-heading-rule">
            <a:extLst xmlns:a="http://schemas.openxmlformats.org/drawingml/2006/main">
              <a:ext uri="{FF2B5EF4-FFF2-40B4-BE49-F238E27FC236}">
                <a16:creationId xmlns:a16="http://schemas.microsoft.com/office/drawing/2014/main" id="{11DBDF63-DEC2-4DF0-9F9F-A305BEE84908}"/>
              </a:ext>
            </a:extLst>
          </p:cNvPr>
          <p:cNvSpPr>
            <a:spLocks xmlns:a="http://schemas.openxmlformats.org/drawingml/2006/main" noGrp="1"/>
          </p:cNvSpPr>
          <p:nvPr/>
        </p:nvSpPr>
        <p:spPr>
          <a:xfrm xmlns:a="http://schemas.openxmlformats.org/drawingml/2006/main">
            <a:off x="20535900" y="227647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79" name="validation-table-heading-accent">
            <a:extLst xmlns:a="http://schemas.openxmlformats.org/drawingml/2006/main">
              <a:ext uri="{FF2B5EF4-FFF2-40B4-BE49-F238E27FC236}">
                <a16:creationId xmlns:a16="http://schemas.microsoft.com/office/drawing/2014/main" id="{42472257-F2EB-435B-8D1C-EA1C01EC4CCB}"/>
              </a:ext>
            </a:extLst>
          </p:cNvPr>
          <p:cNvSpPr>
            <a:spLocks xmlns:a="http://schemas.openxmlformats.org/drawingml/2006/main" noGrp="1"/>
          </p:cNvSpPr>
          <p:nvPr/>
        </p:nvSpPr>
        <p:spPr>
          <a:xfrm xmlns:a="http://schemas.openxmlformats.org/drawingml/2006/main">
            <a:off x="20535900" y="2276475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graphicFrame>
        <p:nvGraphicFramePr>
          <p:cNvPr id="174" name=""/>
          <p:cNvGraphicFramePr/>
          <p:nvPr/>
        </p:nvGraphicFramePr>
        <p:xfrm>
          <a:off xmlns:a="http://schemas.openxmlformats.org/drawingml/2006/main" x="20535900" y="22936200"/>
          <a:ext xmlns:a="http://schemas.openxmlformats.org/drawingml/2006/main" cx="8743950" cy="3810000"/>
        </p:xfrm>
        <a:graphic xmlns:a="http://schemas.openxmlformats.org/drawingml/2006/main">
          <a:graphicData uri="http://schemas.openxmlformats.org/drawingml/2006/table">
            <a:tbl>
              <a:tblPr firstRow="1" firstCol="1" bandRow="1"/>
              <a:tblGrid>
                <a:gridCol w="1186679"/>
                <a:gridCol w="1436506"/>
                <a:gridCol w="1436506"/>
                <a:gridCol w="1249136"/>
                <a:gridCol w="1249136"/>
                <a:gridCol w="1249136"/>
                <a:gridCol w="936852"/>
              </a:tblGrid>
              <a:tr h="1905000">
                <a:tc>
                  <a:txBody>
                    <a:bodyPr/>
                    <a:lstStyle/>
                    <a:p>
                      <a:pPr algn="l"/>
                      <a:r>
                        <a:rPr sz="1275" b="1">
                          <a:solidFill>
                            <a:srgbClr val="FFFFFF"/>
                          </a:solidFill>
                          <a:latin typeface="DejaVu Sans"/>
                          <a:ea typeface="DejaVu Sans"/>
                          <a:cs typeface="DejaVu Sans"/>
                        </a:rPr>
                        <a:t>Rounds</a:t>
                      </a:r>
                    </a:p>
                  </a:txBody>
                  <a:tcPr marL="91440" marR="91440" marT="45720" marB="45720" anchor="ctr">
                    <a:solidFill>
                      <a:srgbClr val="6A1F2C"/>
                    </a:solidFill>
                  </a:tcPr>
                </a:tc>
                <a:tc>
                  <a:txBody>
                    <a:bodyPr/>
                    <a:lstStyle/>
                    <a:p>
                      <a:pPr algn="ctr"/>
                      <a:r>
                        <a:rPr sz="1275" b="1">
                          <a:solidFill>
                            <a:srgbClr val="FFFFFF"/>
                          </a:solidFill>
                          <a:latin typeface="DejaVu Sans"/>
                          <a:ea typeface="DejaVu Sans"/>
                          <a:cs typeface="DejaVu Sans"/>
                        </a:rPr>
                        <a:t>Theory %</a:t>
                      </a:r>
                    </a:p>
                  </a:txBody>
                  <a:tcPr marL="91440" marR="91440" marT="45720" marB="45720" anchor="ctr">
                    <a:solidFill>
                      <a:srgbClr val="6A1F2C"/>
                    </a:solidFill>
                  </a:tcPr>
                </a:tc>
                <a:tc>
                  <a:txBody>
                    <a:bodyPr/>
                    <a:lstStyle/>
                    <a:p>
                      <a:pPr algn="ctr"/>
                      <a:r>
                        <a:rPr sz="1275" b="1">
                          <a:solidFill>
                            <a:srgbClr val="FFFFFF"/>
                          </a:solidFill>
                          <a:latin typeface="DejaVu Sans"/>
                          <a:ea typeface="DejaVu Sans"/>
                          <a:cs typeface="DejaVu Sans"/>
                        </a:rPr>
                        <a:t>Observed %</a:t>
                      </a:r>
                    </a:p>
                  </a:txBody>
                  <a:tcPr marL="91440" marR="91440" marT="45720" marB="45720" anchor="ctr">
                    <a:solidFill>
                      <a:srgbClr val="6A1F2C"/>
                    </a:solidFill>
                  </a:tcPr>
                </a:tc>
                <a:tc>
                  <a:txBody>
                    <a:bodyPr/>
                    <a:lstStyle/>
                    <a:p>
                      <a:pPr algn="ctr"/>
                      <a:r>
                        <a:rPr sz="1275" b="1">
                          <a:solidFill>
                            <a:srgbClr val="FFFFFF"/>
                          </a:solidFill>
                          <a:latin typeface="DejaVu Sans"/>
                          <a:ea typeface="DejaVu Sans"/>
                          <a:cs typeface="DejaVu Sans"/>
                        </a:rPr>
                        <a:t>SE pp</a:t>
                      </a:r>
                    </a:p>
                  </a:txBody>
                  <a:tcPr marL="91440" marR="91440" marT="45720" marB="45720" anchor="ctr">
                    <a:solidFill>
                      <a:srgbClr val="6A1F2C"/>
                    </a:solidFill>
                  </a:tcPr>
                </a:tc>
                <a:tc>
                  <a:txBody>
                    <a:bodyPr/>
                    <a:lstStyle/>
                    <a:p>
                      <a:pPr algn="ctr"/>
                      <a:r>
                        <a:rPr sz="1275" b="1">
                          <a:solidFill>
                            <a:srgbClr val="FFFFFF"/>
                          </a:solidFill>
                          <a:latin typeface="DejaVu Sans"/>
                          <a:ea typeface="DejaVu Sans"/>
                          <a:cs typeface="DejaVu Sans"/>
                        </a:rPr>
                        <a:t>Diff pp</a:t>
                      </a:r>
                    </a:p>
                  </a:txBody>
                  <a:tcPr marL="91440" marR="91440" marT="45720" marB="45720" anchor="ctr">
                    <a:solidFill>
                      <a:srgbClr val="6A1F2C"/>
                    </a:solidFill>
                  </a:tcPr>
                </a:tc>
                <a:tc>
                  <a:txBody>
                    <a:bodyPr/>
                    <a:lstStyle/>
                    <a:p>
                      <a:pPr algn="ctr"/>
                      <a:r>
                        <a:rPr sz="1275" b="1">
                          <a:solidFill>
                            <a:srgbClr val="FFFFFF"/>
                          </a:solidFill>
                          <a:latin typeface="DejaVu Sans"/>
                          <a:ea typeface="DejaVu Sans"/>
                          <a:cs typeface="DejaVu Sans"/>
                        </a:rPr>
                        <a:t>Tolerance pp</a:t>
                      </a:r>
                    </a:p>
                  </a:txBody>
                  <a:tcPr marL="91440" marR="91440" marT="45720" marB="45720" anchor="ctr">
                    <a:solidFill>
                      <a:srgbClr val="6A1F2C"/>
                    </a:solidFill>
                  </a:tcPr>
                </a:tc>
                <a:tc>
                  <a:txBody>
                    <a:bodyPr/>
                    <a:lstStyle/>
                    <a:p>
                      <a:pPr algn="ctr"/>
                      <a:r>
                        <a:rPr sz="1275" b="1">
                          <a:solidFill>
                            <a:srgbClr val="FFFFFF"/>
                          </a:solidFill>
                          <a:latin typeface="DejaVu Sans"/>
                          <a:ea typeface="DejaVu Sans"/>
                          <a:cs typeface="DejaVu Sans"/>
                        </a:rPr>
                        <a:t>Result</a:t>
                      </a:r>
                    </a:p>
                  </a:txBody>
                  <a:tcPr marL="91440" marR="91440" marT="45720" marB="45720" anchor="ctr">
                    <a:solidFill>
                      <a:srgbClr val="6A1F2C"/>
                    </a:solidFill>
                  </a:tcPr>
                </a:tc>
              </a:tr>
              <a:tr h="1905000">
                <a:tc>
                  <a:txBody>
                    <a:bodyPr/>
                    <a:lstStyle/>
                    <a:p>
                      <a:pPr algn="l"/>
                      <a:r>
                        <a:rPr sz="1350" b="1">
                          <a:solidFill>
                            <a:srgbClr val="2B241F"/>
                          </a:solidFill>
                          <a:latin typeface="DejaVu Sans"/>
                          <a:ea typeface="DejaVu Sans"/>
                          <a:cs typeface="DejaVu Sans"/>
                        </a:rPr>
                        <a:t>100,000</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4.8265</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4.9220</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0.0678</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0.0955</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0.2033</a:t>
                      </a:r>
                    </a:p>
                  </a:txBody>
                  <a:tcPr marL="91440" marR="91440" marT="45720" marB="45720" anchor="ctr">
                    <a:solidFill>
                      <a:srgbClr val="F3E3BF"/>
                    </a:solidFill>
                  </a:tcPr>
                </a:tc>
                <a:tc>
                  <a:txBody>
                    <a:bodyPr/>
                    <a:lstStyle/>
                    <a:p>
                      <a:pPr algn="ctr"/>
                      <a:r>
                        <a:rPr sz="1350" b="1">
                          <a:solidFill>
                            <a:srgbClr val="2B241F"/>
                          </a:solidFill>
                          <a:latin typeface="DejaVu Sans"/>
                          <a:ea typeface="DejaVu Sans"/>
                          <a:cs typeface="DejaVu Sans"/>
                        </a:rPr>
                        <a:t>PASS</a:t>
                      </a:r>
                    </a:p>
                  </a:txBody>
                  <a:tcPr marL="91440" marR="91440" marT="45720" marB="45720" anchor="ctr">
                    <a:solidFill>
                      <a:srgbClr val="F3E3BF"/>
                    </a:solidFill>
                  </a:tcPr>
                </a:tc>
              </a:tr>
            </a:tbl>
          </a:graphicData>
        </a:graphic>
      </p:graphicFrame>
      <p:sp>
        <p:nvSpPr>
          <p:cNvPr id="81" name="validation-table-caption">
            <a:extLst xmlns:a="http://schemas.openxmlformats.org/drawingml/2006/main">
              <a:ext uri="{FF2B5EF4-FFF2-40B4-BE49-F238E27FC236}">
                <a16:creationId xmlns:a16="http://schemas.microsoft.com/office/drawing/2014/main" id="{2F60D83B-DFBF-418F-97FF-8B0AC790BE7D}"/>
              </a:ext>
            </a:extLst>
          </p:cNvPr>
          <p:cNvSpPr>
            <a:spLocks xmlns:a="http://schemas.openxmlformats.org/drawingml/2006/main" noGrp="1"/>
          </p:cNvSpPr>
          <p:nvPr/>
        </p:nvSpPr>
        <p:spPr>
          <a:xfrm xmlns:a="http://schemas.openxmlformats.org/drawingml/2006/main">
            <a:off x="20783550" y="26908125"/>
            <a:ext cx="82486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2000"/>
              </a:lnSpc>
              <a:buNone/>
              <a:defRPr sz="1575" b="0" i="1">
                <a:solidFill>
                  <a:srgbClr val="6D5E51"/>
                </a:solidFill>
                <a:latin typeface="DejaVu Sans"/>
                <a:ea typeface="DejaVu Sans"/>
                <a:cs typeface="DejaVu Sans"/>
              </a:defRPr>
            </a:pPr>
            <a:r>
              <a:rPr sz="1575" b="0" i="1">
                <a:solidFill>
                  <a:srgbClr val="6D5E51"/>
                </a:solidFill>
                <a:latin typeface="DejaVu Sans"/>
                <a:ea typeface="DejaVu Sans"/>
                <a:cs typeface="DejaVu Sans"/>
              </a:rPr>
              <a:t>Theory predicts a natural on 4.8265% of opening hands; the simulation gives 4.9220%. The small difference passes the tolerance check, supporting Equation (2) and the deal code.</a:t>
            </a:r>
          </a:p>
        </p:txBody>
      </p:sp>
      <p:sp>
        <p:nvSpPr>
          <p:cNvPr id="82" name="">
            <a:extLst xmlns:a="http://schemas.openxmlformats.org/drawingml/2006/main">
              <a:ext uri="{FF2B5EF4-FFF2-40B4-BE49-F238E27FC236}">
                <a16:creationId xmlns:a16="http://schemas.microsoft.com/office/drawing/2014/main" id="{91DA9A9A-FD41-43A4-A2B4-CB74868E5561}"/>
              </a:ext>
            </a:extLst>
          </p:cNvPr>
          <p:cNvSpPr>
            <a:spLocks xmlns:a="http://schemas.openxmlformats.org/drawingml/2006/main" noGrp="1"/>
          </p:cNvSpPr>
          <p:nvPr/>
        </p:nvSpPr>
        <p:spPr>
          <a:xfrm xmlns:a="http://schemas.openxmlformats.org/drawingml/2006/main">
            <a:off x="20535900" y="2828925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83" name="revised-discussion-heading">
            <a:extLst xmlns:a="http://schemas.openxmlformats.org/drawingml/2006/main">
              <a:ext uri="{FF2B5EF4-FFF2-40B4-BE49-F238E27FC236}">
                <a16:creationId xmlns:a16="http://schemas.microsoft.com/office/drawing/2014/main" id="{7E63E940-75C1-4668-8DC7-D3C0F73A8300}"/>
              </a:ext>
            </a:extLst>
          </p:cNvPr>
          <p:cNvSpPr>
            <a:spLocks xmlns:a="http://schemas.openxmlformats.org/drawingml/2006/main" noGrp="1"/>
          </p:cNvSpPr>
          <p:nvPr/>
        </p:nvSpPr>
        <p:spPr>
          <a:xfrm xmlns:a="http://schemas.openxmlformats.org/drawingml/2006/main">
            <a:off x="20535900" y="28594050"/>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250" b="1" i="0">
                <a:solidFill>
                  <a:srgbClr val="6A1F2C"/>
                </a:solidFill>
                <a:latin typeface="DejaVu Serif"/>
                <a:ea typeface="DejaVu Serif"/>
                <a:cs typeface="DejaVu Serif"/>
              </a:defRPr>
            </a:pPr>
            <a:r>
              <a:rPr sz="2250" b="1" i="0">
                <a:solidFill>
                  <a:srgbClr val="6A1F2C"/>
                </a:solidFill>
                <a:latin typeface="DejaVu Serif"/>
                <a:ea typeface="DejaVu Serif"/>
                <a:cs typeface="DejaVu Serif"/>
              </a:rPr>
              <a:t>What the result means—and does not mean</a:t>
            </a:r>
          </a:p>
        </p:txBody>
      </p:sp>
      <p:sp>
        <p:nvSpPr>
          <p:cNvPr id="84" name="revised-discussion-heading-rule">
            <a:extLst xmlns:a="http://schemas.openxmlformats.org/drawingml/2006/main">
              <a:ext uri="{FF2B5EF4-FFF2-40B4-BE49-F238E27FC236}">
                <a16:creationId xmlns:a16="http://schemas.microsoft.com/office/drawing/2014/main" id="{C414E7E5-AE1B-4CA5-90E9-1E1500D1AE0B}"/>
              </a:ext>
            </a:extLst>
          </p:cNvPr>
          <p:cNvSpPr>
            <a:spLocks xmlns:a="http://schemas.openxmlformats.org/drawingml/2006/main" noGrp="1"/>
          </p:cNvSpPr>
          <p:nvPr/>
        </p:nvSpPr>
        <p:spPr>
          <a:xfrm xmlns:a="http://schemas.openxmlformats.org/drawingml/2006/main">
            <a:off x="20535900" y="29070300"/>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85" name="revised-discussion-heading-accent">
            <a:extLst xmlns:a="http://schemas.openxmlformats.org/drawingml/2006/main">
              <a:ext uri="{FF2B5EF4-FFF2-40B4-BE49-F238E27FC236}">
                <a16:creationId xmlns:a16="http://schemas.microsoft.com/office/drawing/2014/main" id="{53D8DD06-529B-4EDB-A8A4-7CF7FE8EC6AD}"/>
              </a:ext>
            </a:extLst>
          </p:cNvPr>
          <p:cNvSpPr>
            <a:spLocks xmlns:a="http://schemas.openxmlformats.org/drawingml/2006/main" noGrp="1"/>
          </p:cNvSpPr>
          <p:nvPr/>
        </p:nvSpPr>
        <p:spPr>
          <a:xfrm xmlns:a="http://schemas.openxmlformats.org/drawingml/2006/main">
            <a:off x="20535900" y="29070300"/>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86" name="revised-discussion-bullets">
            <a:extLst xmlns:a="http://schemas.openxmlformats.org/drawingml/2006/main">
              <a:ext uri="{FF2B5EF4-FFF2-40B4-BE49-F238E27FC236}">
                <a16:creationId xmlns:a16="http://schemas.microsoft.com/office/drawing/2014/main" id="{F71A2114-E412-4899-B136-89E0BC53CD76}"/>
              </a:ext>
            </a:extLst>
          </p:cNvPr>
          <p:cNvSpPr>
            <a:spLocks xmlns:a="http://schemas.openxmlformats.org/drawingml/2006/main" noGrp="1"/>
          </p:cNvSpPr>
          <p:nvPr/>
        </p:nvSpPr>
        <p:spPr>
          <a:xfrm xmlns:a="http://schemas.openxmlformats.org/drawingml/2006/main">
            <a:off x="20535900" y="29241750"/>
            <a:ext cx="874395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marL="32" indent="-18" algn="l">
              <a:lnSpc>
                <a:spcPct val="106000"/>
              </a:lnSpc>
              <a:spcAft>
                <a:spcPts val="8"/>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Main result:</a:t>
            </a:r>
            <a:r>
              <a:rPr sz="1575">
                <a:solidFill>
                  <a:srgbClr val="2B241F"/>
                </a:solidFill>
                <a:latin typeface="DejaVu Sans"/>
                <a:ea typeface="DejaVu Sans"/>
                <a:cs typeface="DejaVu Sans"/>
              </a:rPr>
              <a:t> choosing a strategy matters; basic play gives the best average result of the three.</a:t>
            </a:r>
          </a:p>
          <a:p xmlns:a="http://schemas.openxmlformats.org/drawingml/2006/main">
            <a:pPr marL="32" indent="-18" algn="l">
              <a:lnSpc>
                <a:spcPct val="106000"/>
              </a:lnSpc>
              <a:spcAft>
                <a:spcPts val="8"/>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Still a losing game:</a:t>
            </a:r>
            <a:r>
              <a:rPr sz="1575">
                <a:solidFill>
                  <a:srgbClr val="2B241F"/>
                </a:solidFill>
                <a:latin typeface="DejaVu Sans"/>
                <a:ea typeface="DejaVu Sans"/>
                <a:cs typeface="DejaVu Sans"/>
              </a:rPr>
              <a:t> none of the simulated confidence intervals reaches break-even.</a:t>
            </a:r>
          </a:p>
          <a:p xmlns:a="http://schemas.openxmlformats.org/drawingml/2006/main">
            <a:pPr marL="32" indent="-18" algn="l">
              <a:lnSpc>
                <a:spcPct val="106000"/>
              </a:lnSpc>
              <a:spcAft>
                <a:spcPts val="8"/>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Simplified model:</a:t>
            </a:r>
            <a:r>
              <a:rPr sz="1575">
                <a:solidFill>
                  <a:srgbClr val="2B241F"/>
                </a:solidFill>
                <a:latin typeface="DejaVu Sans"/>
                <a:ea typeface="DejaVu Sans"/>
                <a:cs typeface="DejaVu Sans"/>
              </a:rPr>
              <a:t> doubling, splitting, surrender, insurance and changing bets are not included.</a:t>
            </a:r>
          </a:p>
          <a:p xmlns:a="http://schemas.openxmlformats.org/drawingml/2006/main">
            <a:pPr marL="32" indent="-18" algn="l">
              <a:lnSpc>
                <a:spcPct val="106000"/>
              </a:lnSpc>
              <a:spcAft>
                <a:spcPts val="8"/>
              </a:spcAft>
              <a:buNone/>
              <a:defRPr sz="1575">
                <a:solidFill>
                  <a:srgbClr val="2B241F"/>
                </a:solidFill>
                <a:latin typeface="DejaVu Sans"/>
                <a:ea typeface="DejaVu Sans"/>
                <a:cs typeface="DejaVu Sans"/>
              </a:defRPr>
            </a:pPr>
            <a:r>
              <a:rPr sz="1575" b="1">
                <a:solidFill>
                  <a:srgbClr val="2B241F"/>
                </a:solidFill>
                <a:latin typeface="DejaVu Sans"/>
                <a:ea typeface="DejaVu Sans"/>
                <a:cs typeface="DejaVu Sans"/>
              </a:rPr>
              <a:t>Next step:</a:t>
            </a:r>
            <a:r>
              <a:rPr sz="1575">
                <a:solidFill>
                  <a:srgbClr val="2B241F"/>
                </a:solidFill>
                <a:latin typeface="DejaVu Sans"/>
                <a:ea typeface="DejaVu Sans"/>
                <a:cs typeface="DejaVu Sans"/>
              </a:rPr>
              <a:t> compare deck counts, soft-17 rules and 3:2 versus 6:5 Blackjack payouts.</a:t>
            </a:r>
          </a:p>
        </p:txBody>
      </p:sp>
      <p:sp>
        <p:nvSpPr>
          <p:cNvPr id="87" name="revised-conclusion-panel">
            <a:extLst xmlns:a="http://schemas.openxmlformats.org/drawingml/2006/main">
              <a:ext uri="{FF2B5EF4-FFF2-40B4-BE49-F238E27FC236}">
                <a16:creationId xmlns:a16="http://schemas.microsoft.com/office/drawing/2014/main" id="{7E072BFE-9899-4332-86DE-6FCC283A02B3}"/>
              </a:ext>
            </a:extLst>
          </p:cNvPr>
          <p:cNvSpPr>
            <a:spLocks xmlns:a="http://schemas.openxmlformats.org/drawingml/2006/main" noGrp="1"/>
          </p:cNvSpPr>
          <p:nvPr/>
        </p:nvSpPr>
        <p:spPr>
          <a:xfrm xmlns:a="http://schemas.openxmlformats.org/drawingml/2006/main">
            <a:off x="20535900" y="33528000"/>
            <a:ext cx="8743950" cy="3429000"/>
          </a:xfrm>
          <a:prstGeom xmlns:a="http://schemas.openxmlformats.org/drawingml/2006/main" prst="roundRect">
            <a:avLst>
              <a:gd name="adj" fmla="val 7222"/>
            </a:avLst>
          </a:prstGeom>
          <a:solidFill xmlns:a="http://schemas.openxmlformats.org/drawingml/2006/main">
            <a:srgbClr val="6A1F2C"/>
          </a:solidFill>
          <a:ln xmlns:a="http://schemas.openxmlformats.org/drawingml/2006/main" w="9525">
            <a:solidFill>
              <a:srgbClr val="6A1F2C"/>
            </a:solidFill>
            <a:prstDash val="solid"/>
          </a:ln>
        </p:spPr>
        <p:txBody>
          <a:bodyPr xmlns:a="http://schemas.openxmlformats.org/drawingml/2006/main" lIns="342900" tIns="247650" rIns="342900" bIns="247650" anchor="ctr">
            <a:noAutofit/>
          </a:bodyPr>
          <a:lstStyle xmlns:a="http://schemas.openxmlformats.org/drawingml/2006/main"/>
          <a:p xmlns:a="http://schemas.openxmlformats.org/drawingml/2006/main">
            <a:pPr algn="ctr">
              <a:lnSpc>
                <a:spcPct val="108000"/>
              </a:lnSpc>
              <a:buNone/>
              <a:defRPr sz="1875" b="1">
                <a:solidFill>
                  <a:srgbClr val="FFFFFF"/>
                </a:solidFill>
                <a:latin typeface="DejaVu Serif"/>
                <a:ea typeface="DejaVu Serif"/>
                <a:cs typeface="DejaVu Serif"/>
              </a:defRPr>
            </a:pPr>
            <a:r>
              <a:rPr sz="1875" b="1">
                <a:solidFill>
                  <a:srgbClr val="FFFFFF"/>
                </a:solidFill>
                <a:latin typeface="DejaVu Serif"/>
                <a:ea typeface="DejaVu Serif"/>
                <a:cs typeface="DejaVu Serif"/>
              </a:rPr>
              <a:t>Bottom line</a:t>
            </a:r>
          </a:p>
          <a:p xmlns:a="http://schemas.openxmlformats.org/drawingml/2006/main">
            <a:r>
              <a:t/>
            </a:r>
          </a:p>
          <a:p xmlns:a="http://schemas.openxmlformats.org/drawingml/2006/main">
            <a:pPr algn="ctr">
              <a:lnSpc>
                <a:spcPct val="108000"/>
              </a:lnSpc>
              <a:buNone/>
              <a:defRPr sz="1875" b="1">
                <a:solidFill>
                  <a:srgbClr val="FFFFFF"/>
                </a:solidFill>
                <a:latin typeface="DejaVu Serif"/>
                <a:ea typeface="DejaVu Serif"/>
                <a:cs typeface="DejaVu Serif"/>
              </a:defRPr>
            </a:pPr>
            <a:r>
              <a:rPr sz="1875" b="1">
                <a:solidFill>
                  <a:srgbClr val="FFFFFF"/>
                </a:solidFill>
                <a:latin typeface="DejaVu Serif"/>
                <a:ea typeface="DejaVu Serif"/>
                <a:cs typeface="DejaVu Serif"/>
              </a:rPr>
              <a:t>Basic strategy is the best of the three tested rules. It cuts the simulated casino advantage by about 72% compared with naive play, but it does not turn Blackjack into a profitable game. The formula, validation and convergence checks all support this conclusion.</a:t>
            </a:r>
          </a:p>
        </p:txBody>
      </p:sp>
      <p:sp>
        <p:nvSpPr>
          <p:cNvPr id="88" name="revised-references-heading">
            <a:extLst xmlns:a="http://schemas.openxmlformats.org/drawingml/2006/main">
              <a:ext uri="{FF2B5EF4-FFF2-40B4-BE49-F238E27FC236}">
                <a16:creationId xmlns:a16="http://schemas.microsoft.com/office/drawing/2014/main" id="{BA223EA4-BE72-44E7-8749-D5B369E51EC3}"/>
              </a:ext>
            </a:extLst>
          </p:cNvPr>
          <p:cNvSpPr>
            <a:spLocks xmlns:a="http://schemas.openxmlformats.org/drawingml/2006/main" noGrp="1"/>
          </p:cNvSpPr>
          <p:nvPr/>
        </p:nvSpPr>
        <p:spPr>
          <a:xfrm xmlns:a="http://schemas.openxmlformats.org/drawingml/2006/main">
            <a:off x="20535900" y="37385625"/>
            <a:ext cx="874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2100" b="1" i="0">
                <a:solidFill>
                  <a:srgbClr val="6A1F2C"/>
                </a:solidFill>
                <a:latin typeface="DejaVu Serif"/>
                <a:ea typeface="DejaVu Serif"/>
                <a:cs typeface="DejaVu Serif"/>
              </a:defRPr>
            </a:pPr>
            <a:r>
              <a:rPr sz="2100" b="1" i="0">
                <a:solidFill>
                  <a:srgbClr val="6A1F2C"/>
                </a:solidFill>
                <a:latin typeface="DejaVu Serif"/>
                <a:ea typeface="DejaVu Serif"/>
                <a:cs typeface="DejaVu Serif"/>
              </a:rPr>
              <a:t>References and project files</a:t>
            </a:r>
          </a:p>
        </p:txBody>
      </p:sp>
      <p:sp>
        <p:nvSpPr>
          <p:cNvPr id="89" name="revised-references-heading-rule">
            <a:extLst xmlns:a="http://schemas.openxmlformats.org/drawingml/2006/main">
              <a:ext uri="{FF2B5EF4-FFF2-40B4-BE49-F238E27FC236}">
                <a16:creationId xmlns:a16="http://schemas.microsoft.com/office/drawing/2014/main" id="{37AB4C24-0271-43B6-9F30-709CE8230796}"/>
              </a:ext>
            </a:extLst>
          </p:cNvPr>
          <p:cNvSpPr>
            <a:spLocks xmlns:a="http://schemas.openxmlformats.org/drawingml/2006/main" noGrp="1"/>
          </p:cNvSpPr>
          <p:nvPr/>
        </p:nvSpPr>
        <p:spPr>
          <a:xfrm xmlns:a="http://schemas.openxmlformats.org/drawingml/2006/main">
            <a:off x="20535900" y="37861875"/>
            <a:ext cx="8743950" cy="0"/>
          </a:xfrm>
          <a:prstGeom xmlns:a="http://schemas.openxmlformats.org/drawingml/2006/main" prst="line">
            <a:avLst/>
          </a:prstGeom>
          <a:noFill xmlns:a="http://schemas.openxmlformats.org/drawingml/2006/main"/>
          <a:ln xmlns:a="http://schemas.openxmlformats.org/drawingml/2006/main" w="19050">
            <a:solidFill>
              <a:srgbClr val="D8C5A4"/>
            </a:solidFill>
            <a:prstDash val="solid"/>
          </a:ln>
        </p:spPr>
      </p:sp>
      <p:sp>
        <p:nvSpPr>
          <p:cNvPr id="90" name="revised-references-heading-accent">
            <a:extLst xmlns:a="http://schemas.openxmlformats.org/drawingml/2006/main">
              <a:ext uri="{FF2B5EF4-FFF2-40B4-BE49-F238E27FC236}">
                <a16:creationId xmlns:a16="http://schemas.microsoft.com/office/drawing/2014/main" id="{D41D065E-3D98-45DA-B26F-07A9CC693D42}"/>
              </a:ext>
            </a:extLst>
          </p:cNvPr>
          <p:cNvSpPr>
            <a:spLocks xmlns:a="http://schemas.openxmlformats.org/drawingml/2006/main" noGrp="1"/>
          </p:cNvSpPr>
          <p:nvPr/>
        </p:nvSpPr>
        <p:spPr>
          <a:xfrm xmlns:a="http://schemas.openxmlformats.org/drawingml/2006/main">
            <a:off x="20535900" y="37861875"/>
            <a:ext cx="1619250" cy="0"/>
          </a:xfrm>
          <a:prstGeom xmlns:a="http://schemas.openxmlformats.org/drawingml/2006/main" prst="line">
            <a:avLst/>
          </a:prstGeom>
          <a:noFill xmlns:a="http://schemas.openxmlformats.org/drawingml/2006/main"/>
          <a:ln xmlns:a="http://schemas.openxmlformats.org/drawingml/2006/main" w="66675">
            <a:solidFill>
              <a:srgbClr val="C5933D"/>
            </a:solidFill>
            <a:prstDash val="solid"/>
          </a:ln>
        </p:spPr>
      </p:sp>
      <p:sp>
        <p:nvSpPr>
          <p:cNvPr id="91" name="revised-references-body">
            <a:extLst xmlns:a="http://schemas.openxmlformats.org/drawingml/2006/main">
              <a:ext uri="{FF2B5EF4-FFF2-40B4-BE49-F238E27FC236}">
                <a16:creationId xmlns:a16="http://schemas.microsoft.com/office/drawing/2014/main" id="{C1587185-2D0C-4533-B40F-75C3B59D9363}"/>
              </a:ext>
            </a:extLst>
          </p:cNvPr>
          <p:cNvSpPr>
            <a:spLocks xmlns:a="http://schemas.openxmlformats.org/drawingml/2006/main" noGrp="1"/>
          </p:cNvSpPr>
          <p:nvPr/>
        </p:nvSpPr>
        <p:spPr>
          <a:xfrm xmlns:a="http://schemas.openxmlformats.org/drawingml/2006/main">
            <a:off x="20535900" y="38033325"/>
            <a:ext cx="63627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i="0">
                <a:solidFill>
                  <a:srgbClr val="6D5E51"/>
                </a:solidFill>
                <a:latin typeface="DejaVu Sans"/>
                <a:ea typeface="DejaVu Sans"/>
                <a:cs typeface="DejaVu Sans"/>
              </a:defRPr>
            </a:pPr>
            <a:r>
              <a:rPr sz="1500" b="0" i="0">
                <a:solidFill>
                  <a:srgbClr val="6D5E51"/>
                </a:solidFill>
                <a:latin typeface="DejaVu Sans"/>
                <a:ea typeface="DejaVu Sans"/>
                <a:cs typeface="DejaVu Sans"/>
              </a:rPr>
              <a:t>[1] Baldwin et al. (1956), The Optimum Strategy in Blackjack.</a:t>
            </a:r>
          </a:p>
          <a:p xmlns:a="http://schemas.openxmlformats.org/drawingml/2006/main">
            <a:pPr algn="l">
              <a:lnSpc>
                <a:spcPct val="106000"/>
              </a:lnSpc>
              <a:buNone/>
              <a:defRPr sz="1500" b="0" i="0">
                <a:solidFill>
                  <a:srgbClr val="6D5E51"/>
                </a:solidFill>
                <a:latin typeface="DejaVu Sans"/>
                <a:ea typeface="DejaVu Sans"/>
                <a:cs typeface="DejaVu Sans"/>
              </a:defRPr>
            </a:pPr>
            <a:r>
              <a:rPr sz="1500" b="0" i="0">
                <a:solidFill>
                  <a:srgbClr val="6D5E51"/>
                </a:solidFill>
                <a:latin typeface="DejaVu Sans"/>
                <a:ea typeface="DejaVu Sans"/>
                <a:cs typeface="DejaVu Sans"/>
              </a:rPr>
              <a:t>[2] Griffin (1979), The Theory of Blackjack.</a:t>
            </a:r>
          </a:p>
          <a:p xmlns:a="http://schemas.openxmlformats.org/drawingml/2006/main">
            <a:pPr algn="l">
              <a:lnSpc>
                <a:spcPct val="106000"/>
              </a:lnSpc>
              <a:buNone/>
              <a:defRPr sz="1500" b="0" i="0">
                <a:solidFill>
                  <a:srgbClr val="6D5E51"/>
                </a:solidFill>
                <a:latin typeface="DejaVu Sans"/>
                <a:ea typeface="DejaVu Sans"/>
                <a:cs typeface="DejaVu Sans"/>
              </a:defRPr>
            </a:pPr>
            <a:r>
              <a:rPr sz="1500" b="0" i="0">
                <a:solidFill>
                  <a:srgbClr val="6D5E51"/>
                </a:solidFill>
                <a:latin typeface="DejaVu Sans"/>
                <a:ea typeface="DejaVu Sans"/>
                <a:cs typeface="DejaVu Sans"/>
              </a:rPr>
              <a:t>[3] Solowiej (2004), Finding Blackjack's optimal strategy in real-time and player's expected win.</a:t>
            </a:r>
          </a:p>
          <a:p xmlns:a="http://schemas.openxmlformats.org/drawingml/2006/main">
            <a:pPr algn="l">
              <a:lnSpc>
                <a:spcPct val="106000"/>
              </a:lnSpc>
              <a:buNone/>
              <a:defRPr sz="1500" b="0" i="0">
                <a:solidFill>
                  <a:srgbClr val="6D5E51"/>
                </a:solidFill>
                <a:latin typeface="DejaVu Sans"/>
                <a:ea typeface="DejaVu Sans"/>
                <a:cs typeface="DejaVu Sans"/>
              </a:defRPr>
            </a:pPr>
            <a:r>
              <a:rPr sz="1500" b="0" i="0">
                <a:solidFill>
                  <a:srgbClr val="6D5E51"/>
                </a:solidFill>
                <a:latin typeface="DejaVu Sans"/>
                <a:ea typeface="DejaVu Sans"/>
                <a:cs typeface="DejaVu Sans"/>
              </a:rPr>
              <a:t>[4] Sutton and Barto (2018), Reinforcement Learning: An Introduction.</a:t>
            </a:r>
          </a:p>
          <a:p xmlns:a="http://schemas.openxmlformats.org/drawingml/2006/main">
            <a:pPr algn="l">
              <a:lnSpc>
                <a:spcPct val="106000"/>
              </a:lnSpc>
              <a:buNone/>
              <a:defRPr sz="1500" b="0" i="0">
                <a:solidFill>
                  <a:srgbClr val="6D5E51"/>
                </a:solidFill>
                <a:latin typeface="DejaVu Sans"/>
                <a:ea typeface="DejaVu Sans"/>
                <a:cs typeface="DejaVu Sans"/>
              </a:defRPr>
            </a:pPr>
            <a:r>
              <a:rPr sz="1500" b="0" i="0">
                <a:solidFill>
                  <a:srgbClr val="6D5E51"/>
                </a:solidFill>
                <a:latin typeface="DejaVu Sans"/>
                <a:ea typeface="DejaVu Sans"/>
                <a:cs typeface="DejaVu Sans"/>
              </a:rPr>
              <a:t>Results: seed 25203038. Repository: github.com/ACM40960/projects-neeraj</a:t>
            </a:r>
          </a:p>
        </p:txBody>
      </p:sp>
      <p:sp>
        <p:nvSpPr>
          <p:cNvPr id="92" name="github-qr-frame">
            <a:extLst xmlns:a="http://schemas.openxmlformats.org/drawingml/2006/main">
              <a:ext uri="{FF2B5EF4-FFF2-40B4-BE49-F238E27FC236}">
                <a16:creationId xmlns:a16="http://schemas.microsoft.com/office/drawing/2014/main" id="{18D84273-54CB-426F-BFE0-FC8FA9AA53D9}"/>
              </a:ext>
            </a:extLst>
          </p:cNvPr>
          <p:cNvSpPr>
            <a:spLocks xmlns:a="http://schemas.openxmlformats.org/drawingml/2006/main" noGrp="1"/>
          </p:cNvSpPr>
          <p:nvPr/>
        </p:nvSpPr>
        <p:spPr>
          <a:xfrm xmlns:a="http://schemas.openxmlformats.org/drawingml/2006/main">
            <a:off x="27184350" y="38100000"/>
            <a:ext cx="2095500" cy="2095500"/>
          </a:xfrm>
          <a:prstGeom xmlns:a="http://schemas.openxmlformats.org/drawingml/2006/main" prst="roundRect">
            <a:avLst>
              <a:gd name="adj" fmla="val 6364"/>
            </a:avLst>
          </a:prstGeom>
          <a:solidFill xmlns:a="http://schemas.openxmlformats.org/drawingml/2006/main">
            <a:srgbClr val="FFFFFF"/>
          </a:solidFill>
          <a:ln xmlns:a="http://schemas.openxmlformats.org/drawingml/2006/main" w="38100">
            <a:solidFill>
              <a:srgbClr val="C5933D"/>
            </a:solidFill>
            <a:prstDash val="solid"/>
          </a:ln>
        </p:spPr>
      </p:sp>
      <p:pic>
        <p:nvPicPr>
          <p:cNvPr id="187" name=""/>
          <p:cNvPicPr>
            <a:picLocks xmlns:a="http://schemas.openxmlformats.org/drawingml/2006/main" noChangeAspect="1"/>
          </p:cNvPicPr>
          <p:nvPr/>
        </p:nvPicPr>
        <p:blipFill>
          <a:blip xmlns:r="http://schemas.openxmlformats.org/officeDocument/2006/relationships" xmlns:a="http://schemas.openxmlformats.org/drawingml/2006/main" r:embed="R546b9d658dfd4854"/>
          <a:stretch xmlns:a="http://schemas.openxmlformats.org/drawingml/2006/main"/>
        </p:blipFill>
        <p:spPr>
          <a:xfrm xmlns:a="http://schemas.openxmlformats.org/drawingml/2006/main">
            <a:off x="27279600" y="38195250"/>
            <a:ext cx="1905000" cy="1905000"/>
          </a:xfrm>
          <a:prstGeom xmlns:a="http://schemas.openxmlformats.org/drawingml/2006/main" prst="rect">
            <a:avLst/>
          </a:prstGeom>
        </p:spPr>
      </p:pic>
      <p:sp>
        <p:nvSpPr>
          <p:cNvPr id="94" name="github-qr-label">
            <a:extLst xmlns:a="http://schemas.openxmlformats.org/drawingml/2006/main">
              <a:ext uri="{FF2B5EF4-FFF2-40B4-BE49-F238E27FC236}">
                <a16:creationId xmlns:a16="http://schemas.microsoft.com/office/drawing/2014/main" id="{BDAA2ECE-C5A9-4B65-AA3C-09D3D706B78A}"/>
              </a:ext>
            </a:extLst>
          </p:cNvPr>
          <p:cNvSpPr>
            <a:spLocks xmlns:a="http://schemas.openxmlformats.org/drawingml/2006/main" noGrp="1"/>
          </p:cNvSpPr>
          <p:nvPr/>
        </p:nvSpPr>
        <p:spPr>
          <a:xfrm xmlns:a="http://schemas.openxmlformats.org/drawingml/2006/main">
            <a:off x="27089100" y="4029075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buNone/>
              <a:defRPr sz="1125" b="1" i="0">
                <a:solidFill>
                  <a:srgbClr val="6A1F2C"/>
                </a:solidFill>
                <a:latin typeface="DejaVu Sans"/>
                <a:ea typeface="DejaVu Sans"/>
                <a:cs typeface="DejaVu Sans"/>
              </a:defRPr>
            </a:pPr>
            <a:r>
              <a:rPr sz="1125" b="1" i="0">
                <a:solidFill>
                  <a:srgbClr val="6A1F2C"/>
                </a:solidFill>
                <a:latin typeface="DejaVu Sans"/>
                <a:ea typeface="DejaVu Sans"/>
                <a:cs typeface="DejaVu Sans"/>
              </a:rPr>
              <a:t>SCAN FOR CODE, TESTS &amp; DATA</a:t>
            </a:r>
          </a:p>
        </p:txBody>
      </p:sp>
    </p:spTree>
    <p:extLst>
      <p:ext uri="{BB962C8B-B14F-4D97-AF65-F5344CB8AC3E}">
        <p14:creationId xmlns:p14="http://schemas.microsoft.com/office/powerpoint/2010/main" val="704182950"/>
      </p:ext>
    </p:extLst>
  </p:cSld>
</p:sld>
</file>

<file path=ppt/theme/theme1.xml><?xml version="1.0" encoding="utf-8"?>
<a:theme xmlns:a="http://schemas.openxmlformats.org/drawingml/2006/main" name="ChatGPT">
  <a:themeElements>
    <a:clrScheme name="Casino Burgundy and Gold">
      <a:dk1>
        <a:srgbClr val="000000"/>
      </a:dk1>
      <a:lt1>
        <a:srgbClr val="FFFFFF"/>
      </a:lt1>
      <a:dk2>
        <a:srgbClr val="6A1F2C"/>
      </a:dk2>
      <a:lt2>
        <a:srgbClr val="F5E7CE"/>
      </a:lt2>
      <a:accent1>
        <a:srgbClr val="7A2130"/>
      </a:accent1>
      <a:accent2>
        <a:srgbClr val="6A1F2C"/>
      </a:accent2>
      <a:accent3>
        <a:srgbClr val="C5933D"/>
      </a:accent3>
      <a:accent4>
        <a:srgbClr val="A5413E"/>
      </a:accent4>
      <a:accent5>
        <a:srgbClr val="496B61"/>
      </a:accent5>
      <a:accent6>
        <a:srgbClr val="24513C"/>
      </a:accent6>
      <a:hlink>
        <a:srgbClr val="496B61"/>
      </a:hlink>
      <a:folHlink>
        <a:srgbClr val="6B4A8C"/>
      </a:folHlink>
    </a:clrScheme>
    <a:fontScheme name="Office">
      <a:majorFont>
        <a:latin typeface="Calibri Light"/>
        <a:ea typeface="Calibri Light"/>
        <a:cs typeface="Calibri Light"/>
      </a:majorFont>
      <a:minorFont>
        <a:latin typeface="Calibri"/>
        <a:ea typeface="Calibri"/>
        <a:cs typeface="Calibri"/>
      </a:minorFont>
    </a:fontScheme>
    <a:fmtScheme name="Casino Burgundy and Gol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2026-08-16T23:59:28.1430000Z</dcterms:created>
  <dcterms:modified xsi:type="dcterms:W3CDTF">2026-08-16T23:59:28.1430000Z</dcterms:modified>
</coreProperties>
</file>